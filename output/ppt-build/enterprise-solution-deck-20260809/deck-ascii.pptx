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57ec343f924d66" /><Relationship Type="http://schemas.openxmlformats.org/officeDocument/2006/relationships/extended-properties" Target="/docProps/app.xml" Id="R9cde624dbae24bba" /><Relationship Type="http://schemas.openxmlformats.org/officeDocument/2006/relationships/officeDocument" Target="/ppt/presentation.xml" Id="R2be1007ce311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b05f8eeb8d407a"/>
  </p:sldMasterIdLst>
  <p:notesMasterIdLst>
    <p:notesMasterId xmlns:r="http://schemas.openxmlformats.org/officeDocument/2006/relationships" r:id="R7f24d567ccd94dfe"/>
  </p:notesMasterIdLst>
  <p:sldIdLst>
    <p:sldId xmlns:r="http://schemas.openxmlformats.org/officeDocument/2006/relationships" id="256" r:id="R88b9b0beb1934657"/>
    <p:sldId xmlns:r="http://schemas.openxmlformats.org/officeDocument/2006/relationships" id="257" r:id="Rc89bd01ddcfe42c4"/>
    <p:sldId xmlns:r="http://schemas.openxmlformats.org/officeDocument/2006/relationships" id="258" r:id="R4c3c7549fdbf4ebf"/>
    <p:sldId xmlns:r="http://schemas.openxmlformats.org/officeDocument/2006/relationships" id="259" r:id="R942f8976c6ee45f3"/>
    <p:sldId xmlns:r="http://schemas.openxmlformats.org/officeDocument/2006/relationships" id="260" r:id="Rc4969f06297e496e"/>
    <p:sldId xmlns:r="http://schemas.openxmlformats.org/officeDocument/2006/relationships" id="261" r:id="R954d991a14db4499"/>
    <p:sldId xmlns:r="http://schemas.openxmlformats.org/officeDocument/2006/relationships" id="262" r:id="R90095b1026494545"/>
    <p:sldId xmlns:r="http://schemas.openxmlformats.org/officeDocument/2006/relationships" id="263" r:id="R8cc294b77422406e"/>
    <p:sldId xmlns:r="http://schemas.openxmlformats.org/officeDocument/2006/relationships" id="264" r:id="Rdd0638c7d3d5476c"/>
    <p:sldId xmlns:r="http://schemas.openxmlformats.org/officeDocument/2006/relationships" id="265" r:id="R1dcab5ccc0774951"/>
    <p:sldId xmlns:r="http://schemas.openxmlformats.org/officeDocument/2006/relationships" id="266" r:id="R3a6068e21ff6467d"/>
    <p:sldId xmlns:r="http://schemas.openxmlformats.org/officeDocument/2006/relationships" id="267" r:id="R9fda2b621c4545c9"/>
    <p:sldId xmlns:r="http://schemas.openxmlformats.org/officeDocument/2006/relationships" id="268" r:id="R0439b6db059043e8"/>
    <p:sldId xmlns:r="http://schemas.openxmlformats.org/officeDocument/2006/relationships" id="269" r:id="R09d37a35364347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acfa9b4e3b4fd3" /><Relationship Type="http://schemas.openxmlformats.org/officeDocument/2006/relationships/slideMaster" Target="/ppt/slideMasters/slideMaster1.xml" Id="Rf4b05f8eeb8d407a" /><Relationship Type="http://schemas.openxmlformats.org/officeDocument/2006/relationships/notesMaster" Target="/ppt/notesMasters/notesMaster1.xml" Id="R7f24d567ccd94dfe" /><Relationship Type="http://schemas.openxmlformats.org/officeDocument/2006/relationships/presProps" Target="/ppt/presProps.xml" Id="Ra98d5e60a260432d" /><Relationship Type="http://schemas.openxmlformats.org/officeDocument/2006/relationships/tableStyles" Target="/ppt/tableStyles.xml" Id="Re4b8ad00c93049d4" /><Relationship Type="http://schemas.openxmlformats.org/officeDocument/2006/relationships/slide" Target="/ppt/slides/slide1.xml" Id="R88b9b0beb1934657" /><Relationship Type="http://schemas.openxmlformats.org/officeDocument/2006/relationships/slide" Target="/ppt/slides/slide2.xml" Id="Rc89bd01ddcfe42c4" /><Relationship Type="http://schemas.openxmlformats.org/officeDocument/2006/relationships/slide" Target="/ppt/slides/slide3.xml" Id="R4c3c7549fdbf4ebf" /><Relationship Type="http://schemas.openxmlformats.org/officeDocument/2006/relationships/slide" Target="/ppt/slides/slide4.xml" Id="R942f8976c6ee45f3" /><Relationship Type="http://schemas.openxmlformats.org/officeDocument/2006/relationships/slide" Target="/ppt/slides/slide5.xml" Id="Rc4969f06297e496e" /><Relationship Type="http://schemas.openxmlformats.org/officeDocument/2006/relationships/slide" Target="/ppt/slides/slide6.xml" Id="R954d991a14db4499" /><Relationship Type="http://schemas.openxmlformats.org/officeDocument/2006/relationships/slide" Target="/ppt/slides/slide7.xml" Id="R90095b1026494545" /><Relationship Type="http://schemas.openxmlformats.org/officeDocument/2006/relationships/slide" Target="/ppt/slides/slide8.xml" Id="R8cc294b77422406e" /><Relationship Type="http://schemas.openxmlformats.org/officeDocument/2006/relationships/slide" Target="/ppt/slides/slide9.xml" Id="Rdd0638c7d3d5476c" /><Relationship Type="http://schemas.openxmlformats.org/officeDocument/2006/relationships/slide" Target="/ppt/slides/slide10.xml" Id="R1dcab5ccc0774951" /><Relationship Type="http://schemas.openxmlformats.org/officeDocument/2006/relationships/slide" Target="/ppt/slides/slide11.xml" Id="R3a6068e21ff6467d" /><Relationship Type="http://schemas.openxmlformats.org/officeDocument/2006/relationships/slide" Target="/ppt/slides/slide12.xml" Id="R9fda2b621c4545c9" /><Relationship Type="http://schemas.openxmlformats.org/officeDocument/2006/relationships/slide" Target="/ppt/slides/slide13.xml" Id="R0439b6db059043e8" /><Relationship Type="http://schemas.openxmlformats.org/officeDocument/2006/relationships/slide" Target="/ppt/slides/slide14.xml" Id="R09d37a35364347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989a0a032842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3b6103e653460d" /><Relationship Type="http://schemas.openxmlformats.org/officeDocument/2006/relationships/notesMaster" Target="/ppt/notesMasters/notesMaster1.xml" Id="R0b2dfd683fde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a55852a11e4fa4" /><Relationship Type="http://schemas.openxmlformats.org/officeDocument/2006/relationships/notesMaster" Target="/ppt/notesMasters/notesMaster1.xml" Id="Rc911f6f6d4d74d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fde8ac97834f74" /><Relationship Type="http://schemas.openxmlformats.org/officeDocument/2006/relationships/notesMaster" Target="/ppt/notesMasters/notesMaster1.xml" Id="Rb266367f808645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9ba2e0eff84c9f" /><Relationship Type="http://schemas.openxmlformats.org/officeDocument/2006/relationships/notesMaster" Target="/ppt/notesMasters/notesMaster1.xml" Id="R250e372b9d9744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7b89f24fd5418b" /><Relationship Type="http://schemas.openxmlformats.org/officeDocument/2006/relationships/notesMaster" Target="/ppt/notesMasters/notesMaster1.xml" Id="Rde54561c5e4748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e0849399424491" /><Relationship Type="http://schemas.openxmlformats.org/officeDocument/2006/relationships/notesMaster" Target="/ppt/notesMasters/notesMaster1.xml" Id="R18791d72a65c4f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baf68c000a4d1b" /><Relationship Type="http://schemas.openxmlformats.org/officeDocument/2006/relationships/notesMaster" Target="/ppt/notesMasters/notesMaster1.xml" Id="R43e83039cfca4d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5a1155b0dc4b84" /><Relationship Type="http://schemas.openxmlformats.org/officeDocument/2006/relationships/notesMaster" Target="/ppt/notesMasters/notesMaster1.xml" Id="Rf01fbc052cf64e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623a5ad5de49b4" /><Relationship Type="http://schemas.openxmlformats.org/officeDocument/2006/relationships/notesMaster" Target="/ppt/notesMasters/notesMaster1.xml" Id="Rca8956ed1d044d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9576b6b8b745df" /><Relationship Type="http://schemas.openxmlformats.org/officeDocument/2006/relationships/notesMaster" Target="/ppt/notesMasters/notesMaster1.xml" Id="R5329018c773a45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01667c6b1b4533" /><Relationship Type="http://schemas.openxmlformats.org/officeDocument/2006/relationships/notesMaster" Target="/ppt/notesMasters/notesMaster1.xml" Id="Rbdffe257f5674b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8babce548946ed" /><Relationship Type="http://schemas.openxmlformats.org/officeDocument/2006/relationships/notesMaster" Target="/ppt/notesMasters/notesMaster1.xml" Id="R6a0ff1bf6fa342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eebc26028941df" /><Relationship Type="http://schemas.openxmlformats.org/officeDocument/2006/relationships/notesMaster" Target="/ppt/notesMasters/notesMaster1.xml" Id="Rdee3d39b2dce40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c8a5146bbc4269" /><Relationship Type="http://schemas.openxmlformats.org/officeDocument/2006/relationships/notesMaster" Target="/ppt/notesMasters/notesMaster1.xml" Id="Rb37ebe49c37541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开场强调这是一份能力展示，不是单一产品推销。数字仓储只是样例，重点是可复制的软件工程方法。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本页建立评价框架。后续每一页都会给出这个项目中的真实证据，而不是只列技术名词。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D:\Laibin\LaibinSugarInventory\README.md</a:t>
            </a:r>
          </a:p>
          <a:p xmlns:a="http://schemas.openxmlformats.org/drawingml/2006/main">
            <a:r>
              <a:t>- D:\Laibin\LaibinSugarInventory\docs\agent\ai-assistant-product-goal.md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强调多端不是简单复制页面：管理端处理全局视角，小程序服务现场扫码与任务，AI 助手承接自然语言入口。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D:\Laibin\LaibinSugarInventory\webpage\README.md</a:t>
            </a:r>
          </a:p>
          <a:p xmlns:a="http://schemas.openxmlformats.org/drawingml/2006/main">
            <a:r>
              <a:t>- D:\Laibin\LaibinSugarInventory\LaibinSugarInventoryWxAPP\package.json</a:t>
            </a:r>
          </a:p>
          <a:p xmlns:a="http://schemas.openxmlformats.org/drawingml/2006/main">
            <a:r>
              <a:t>- D:\Laibin\LaibinSugarInventory\docs\小程序上下文\登录页原型.png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用业务域说明平台不是孤立模块集合。特别指出核心实体关系构成后续报表、追溯与 Agent 的事实基础。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D:\Laibin\LaibinSugarInventory\README.md</a:t>
            </a:r>
          </a:p>
          <a:p xmlns:a="http://schemas.openxmlformats.org/drawingml/2006/main">
            <a:r>
              <a:t>- D:\Laibin\LaibinSugarInventory\docs\mcp-analysis\system-capability-map.md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把前端能力解释为业务交付能力：复杂状态、流程联动、权限可见性、反馈和打印，而不是只说使用了 Vue。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D:\Laibin\LaibinSugarInventory\webpage\package.json</a:t>
            </a:r>
          </a:p>
          <a:p xmlns:a="http://schemas.openxmlformats.org/drawingml/2006/main">
            <a:r>
              <a:t>- D:\Laibin\LaibinSugarInventory\webpage\src\router\index.js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接口数量来自代码扫描与本地运行时 Knife4j 页面交叉验证：PUT 12、GET 65、DELETE 13、POST 136、PATCH 1，共 227。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D:\Laibin\LaibinSugarInventory\pom.xml</a:t>
            </a:r>
          </a:p>
          <a:p xmlns:a="http://schemas.openxmlformats.org/drawingml/2006/main">
            <a:r>
              <a:t>- D:\Laibin\LaibinSugarInventory\docs\openapi.json</a:t>
            </a:r>
          </a:p>
          <a:p xmlns:a="http://schemas.openxmlformats.org/drawingml/2006/main">
            <a:r>
              <a:t>- D:\Laibin\LaibinSugarInventory\AGENTS.md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56 是本地开发数据库 information_schema 的实际表数；35 是 migrations 目录 SQL 文件数。重点解释数据事实层如何支撑追溯、报表与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D:\Laibin\LaibinSugarInventory\laibin.sql</a:t>
            </a:r>
          </a:p>
          <a:p xmlns:a="http://schemas.openxmlformats.org/drawingml/2006/main">
            <a:r>
              <a:t>- D:\Laibin\LaibinSugarInventory\migrations</a:t>
            </a:r>
          </a:p>
          <a:p xmlns:a="http://schemas.openxmlformats.org/drawingml/2006/main">
            <a:r>
              <a:t>- D:\Laibin\LaibinSugarInventory\docs\agent\inventory-trend-data-foundation-implementation-2026-07-29.md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说明部署组件和责任边界。生产密钥由平台注入，不进入镜像、仓库或普通日志；RAG 运行时使用只读版本制品。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D:\Laibin\LaibinSugarInventory\deploy\simple\docker-compose.yml</a:t>
            </a:r>
          </a:p>
          <a:p xmlns:a="http://schemas.openxmlformats.org/drawingml/2006/main">
            <a:r>
              <a:t>- D:\Laibin\LaibinSugarInventory\docs\agent\agent-production-deployment.md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不替代后端权限判断。即使模型判断正确，也必须通过 Runtime、MCP 和 Spring Security 的确定性校验。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D:\Laibin\LaibinSugarInventory\src\main\java\com\Laibin\SugarInventory\SpringSecurity\SecurityConfig.java</a:t>
            </a:r>
          </a:p>
          <a:p xmlns:a="http://schemas.openxmlformats.org/drawingml/2006/main">
            <a:r>
              <a:t>- D:\Laibin\LaibinSugarInventory\docs\mcp\agent-session-authorization.md</a:t>
            </a:r>
          </a:p>
          <a:p xmlns:a="http://schemas.openxmlformats.org/drawingml/2006/main">
            <a:r>
              <a:t>- D:\Laibin\LaibinSugarInventory\docs\agent\ai-assistant-product-goal.md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用户体验刻意隐藏 toolName、内部 ID 和 raw JSON。普通用户感知到的是业务进度与结果，管理员才可看脱敏调试摘要。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D:\Laibin\LaibinSugarInventory\webpage\src\components\AgentAssistant.vue</a:t>
            </a:r>
          </a:p>
          <a:p xmlns:a="http://schemas.openxmlformats.org/drawingml/2006/main">
            <a:r>
              <a:t>- D:\Laibin\LaibinSugarInventory\docs\agent\ai-assistant-product-goal.md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当前第一版只允许 L0、L1 和部分 L2。未来写操作必须经过 preview、用户确认、executionToken、idempotencyKey、执行前重检和审计。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D:\Laibin\LaibinSugarInventory\docs\mcp\mcp-tool-registry.md</a:t>
            </a:r>
          </a:p>
          <a:p xmlns:a="http://schemas.openxmlformats.org/drawingml/2006/main">
            <a:r>
              <a:t>- D:\Laibin\LaibinSugarInventory\agent-service\README.md</a:t>
            </a:r>
          </a:p>
          <a:p xmlns:a="http://schemas.openxmlformats.org/drawingml/2006/main">
            <a:r>
              <a:t>- D:\Laibin\LaibinSugarInventory\warehouse-mcp\README.md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145 是测试源文件清单统计，不代表当前工作区版本的实时通过率。对外表达重点是质量资产覆盖范围与可追溯的验收资料。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D:\Laibin\LaibinSugarInventory\src\test</a:t>
            </a:r>
          </a:p>
          <a:p xmlns:a="http://schemas.openxmlformats.org/drawingml/2006/main">
            <a:r>
              <a:t>- D:\Laibin\LaibinSugarInventory\warehouse-mcp\src\test</a:t>
            </a:r>
          </a:p>
          <a:p xmlns:a="http://schemas.openxmlformats.org/drawingml/2006/main">
            <a:r>
              <a:t>- D:\Laibin\LaibinSugarInventory\agent-service\tests</a:t>
            </a:r>
          </a:p>
          <a:p xmlns:a="http://schemas.openxmlformats.org/drawingml/2006/main">
            <a:r>
              <a:t>- D:\Laibin\LaibinSugarInventory\webpage\src</a:t>
            </a:r>
          </a:p>
          <a:p xmlns:a="http://schemas.openxmlformats.org/drawingml/2006/main">
            <a:r>
              <a:t>- D:\Laibin\LaibinSugarInventory\docs\agent\agent-production-troubleshooting.md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路线图的价值在于展示治理成熟度：宁可明确阻断，也不让模型越过业务安全边界。第一版只开放 L0、L1 和部分 L2。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D:\Laibin\LaibinSugarInventory\docs\mcp\mcp-tool-registry.md</a:t>
            </a:r>
          </a:p>
          <a:p xmlns:a="http://schemas.openxmlformats.org/drawingml/2006/main">
            <a:r>
              <a:t>- D:\Laibin\LaibinSugarInventory\docs\agent\ai-assistant-product-goal.md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收束到客户行动：不是一次性购买功能，而是选择高价值流程，用同一套方法完成诊断、设计、验证和分阶段落地。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D:\Laibin\LaibinSugarInventory\README.md</a:t>
            </a:r>
          </a:p>
          <a:p xmlns:a="http://schemas.openxmlformats.org/drawingml/2006/main">
            <a:r>
              <a:t>- D:\Laibin\LaibinSugarInventory\docs\agent\ai-assistant-product-goal.md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ba4af39da40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9a911f60744e55" /><Relationship Type="http://schemas.openxmlformats.org/officeDocument/2006/relationships/slideLayout" Target="/ppt/slideLayouts/slideLayout1.xml" Id="R91d6c7c0ea8248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d6c7c0ea8248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cc4db9e2540aa" /><Relationship Type="http://schemas.openxmlformats.org/officeDocument/2006/relationships/notesSlide" Target="/ppt/notesSlides/notesSlide1.xml" Id="R8feecc2ac3fd4b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da5018b574941" /><Relationship Type="http://schemas.openxmlformats.org/officeDocument/2006/relationships/notesSlide" Target="/ppt/notesSlides/notesSlide2.xml" Id="Rb568bd1a87ae4d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cb3775be445c8" /><Relationship Type="http://schemas.openxmlformats.org/officeDocument/2006/relationships/image" Target="/ppt/media/image.png" Id="Ra39418537a33467c" /><Relationship Type="http://schemas.openxmlformats.org/officeDocument/2006/relationships/image" Target="/ppt/media/image2.png" Id="Rf8f0c654e9ae4c27" /><Relationship Type="http://schemas.openxmlformats.org/officeDocument/2006/relationships/notesSlide" Target="/ppt/notesSlides/notesSlide3.xml" Id="Rd077d47153504d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e43a78e2b4731" /><Relationship Type="http://schemas.openxmlformats.org/officeDocument/2006/relationships/image" Target="/ppt/media/image3.png" Id="R7139e4fd65f7400d" /><Relationship Type="http://schemas.openxmlformats.org/officeDocument/2006/relationships/notesSlide" Target="/ppt/notesSlides/notesSlide4.xml" Id="Rf5a545f70cf447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f0a00f11943ab" /><Relationship Type="http://schemas.openxmlformats.org/officeDocument/2006/relationships/image" Target="/ppt/media/image4.png" Id="R4d2d18c560da42db" /><Relationship Type="http://schemas.openxmlformats.org/officeDocument/2006/relationships/image" Target="/ppt/media/image5.png" Id="R30366edfae2d4d2a" /><Relationship Type="http://schemas.openxmlformats.org/officeDocument/2006/relationships/notesSlide" Target="/ppt/notesSlides/notesSlide5.xml" Id="R8bfb005bba0a4e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c8cacee41448c" /><Relationship Type="http://schemas.openxmlformats.org/officeDocument/2006/relationships/image" Target="/ppt/media/image6.png" Id="R01f464a159d4425a" /><Relationship Type="http://schemas.openxmlformats.org/officeDocument/2006/relationships/notesSlide" Target="/ppt/notesSlides/notesSlide6.xml" Id="R7402ad37726d48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48effbe34428a" /><Relationship Type="http://schemas.openxmlformats.org/officeDocument/2006/relationships/notesSlide" Target="/ppt/notesSlides/notesSlide7.xml" Id="Rb2c5b64edcdf47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7d2751f2b48ce" /><Relationship Type="http://schemas.openxmlformats.org/officeDocument/2006/relationships/notesSlide" Target="/ppt/notesSlides/notesSlide8.xml" Id="Rcd251d3f357e4c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e3dbabbe04782" /><Relationship Type="http://schemas.openxmlformats.org/officeDocument/2006/relationships/notesSlide" Target="/ppt/notesSlides/notesSlide9.xml" Id="R642aca3a680249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6c108cf324009" /><Relationship Type="http://schemas.openxmlformats.org/officeDocument/2006/relationships/image" Target="/ppt/media/image7.png" Id="R8cbbf03ecaf54af1" /><Relationship Type="http://schemas.openxmlformats.org/officeDocument/2006/relationships/notesSlide" Target="/ppt/notesSlides/notesSlide10.xml" Id="R9033d4eed48b42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702e48a7c4538" /><Relationship Type="http://schemas.openxmlformats.org/officeDocument/2006/relationships/notesSlide" Target="/ppt/notesSlides/notesSlide11.xml" Id="R7f0af91651264c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af0fd8ae64e78" /><Relationship Type="http://schemas.openxmlformats.org/officeDocument/2006/relationships/notesSlide" Target="/ppt/notesSlides/notesSlide12.xml" Id="R274ee5c377bc4c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2d320c22c4db4" /><Relationship Type="http://schemas.openxmlformats.org/officeDocument/2006/relationships/notesSlide" Target="/ppt/notesSlides/notesSlide13.xml" Id="R21cfed530bc940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3f2c808f84fb9" /><Relationship Type="http://schemas.openxmlformats.org/officeDocument/2006/relationships/notesSlide" Target="/ppt/notesSlides/notesSlide14.xml" Id="R66f897f9a35746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EFB48-449B-4A5B-BA53-1342F145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SOFTWARE SOLUTION / 2026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B81F8A71-8C38-475B-B508-9BA80267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57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企业级软件解决方案能力展示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00302-9D6F-4840-BEE6-26DD5571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以数字仓储平台为例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44005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9F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1ECB8-66CD-4699-AAEE-88232927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前端 · 后端 · 数据库 · 部署 · 运维 ·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30D50-9CD2-48E4-ACC6-3068A53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用真实系统证明：能做成，也能长期运行和演进。</a:t>
            </a:r>
          </a:p>
        </p:txBody>
      </p:sp>
    </p:spTree>
    <p:extLst>
      <p:ext uri="{BB962C8B-B14F-4D97-AF65-F5344CB8AC3E}">
        <p14:creationId xmlns:p14="http://schemas.microsoft.com/office/powerpoint/2010/main" val="309462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32D09F3-2D06-4432-96A1-8989B36E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0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企业需要的不是一个页面，而是一套可持续运行的业务系统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0E8C4-C7A2-4BB4-A199-C630D6C5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8F141-5652-45EC-9E67-86894435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真实业务闭环、可靠工程底座和受控智能化，必须同时成立。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20764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F1C1A-1588-497A-A37A-9CE11678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0AA0D-5D32-464D-9BEB-C04D4B47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业务闭环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7CFF0-08BA-407B-8B9A-5CCBB5BD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仓储、生产、质量、二维码与任务流围绕真实单据和状态推进。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267200" y="20764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69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1BBE7-D811-4245-9B9F-F1738A53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EC447-771C-4EA5-9A18-799404AF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工程底座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1DD6B-08EF-4F6E-BD1A-C38D4FB9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前后端分层、数据库迁移、鉴权审计与容器化交付形成长期基础。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8134350" y="20764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69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F1D8D-3524-4950-B97A-F10292D1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C3BB3-2176-4C95-8EB9-4180BB92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智能演进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71FAA-D8F8-409A-B886-1387EDC0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Agent、MCP、RAG、报表与受控预览在明确安全边界内逐步开放。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41695-541A-426B-A0C5-FB4C8F3A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9E833-FB44-4302-B91B-6F4A4FD2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核心判断：软件成熟度 = 业务正确性 × 工程可靠性 × 演进治理</a:t>
            </a:r>
          </a:p>
        </p:txBody>
      </p:sp>
    </p:spTree>
    <p:extLst>
      <p:ext uri="{BB962C8B-B14F-4D97-AF65-F5344CB8AC3E}">
        <p14:creationId xmlns:p14="http://schemas.microsoft.com/office/powerpoint/2010/main" val="1037367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8F58F10-82DF-45AB-AB77-DDD4058D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一个项目，覆盖管理端、现场端与智能助手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6C073-1770-47AC-B5E7-37807E91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05904-7076-4F61-BB98-9542C021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同一业务语义，通过不同终端服务管理者、现场人员和自然语言用户。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29FE9-D3F3-436E-95C9-F86E7AE0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2390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418537a33467c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581150"/>
            <a:ext cx="7239000" cy="4076700"/>
          </a:xfrm>
          <a:prstGeom xmlns:a="http://schemas.openxmlformats.org/drawingml/2006/main" prst="roundRect">
            <a:avLst>
              <a:gd name="adj" fmla="val 233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7D3E5-F206-448E-8312-79E56710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Web 管理端：全局看板、复杂查询与管理操作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02578-F6FA-437A-BED3-698ED4E6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85900"/>
            <a:ext cx="2057400" cy="44005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0c654e9ae4c27"/>
          <a:stretch xmlns:a="http://schemas.openxmlformats.org/drawingml/2006/main"/>
        </p:blipFill>
        <p:spPr>
          <a:xfrm xmlns:a="http://schemas.openxmlformats.org/drawingml/2006/main">
            <a:off x="8077200" y="1858347"/>
            <a:ext cx="2057400" cy="3655657"/>
          </a:xfrm>
          <a:prstGeom xmlns:a="http://schemas.openxmlformats.org/drawingml/2006/main" prst="roundRect">
            <a:avLst>
              <a:gd name="adj" fmla="val 463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C691A-CA85-4516-96DB-46BC6796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717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E954E-5DC8-4294-A73D-771AEE71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90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Web 工作台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6DD9F-9AAE-4D2A-BD95-616F740D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29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现场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21A8E-FE7C-4433-A82E-1AEAA53E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481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微信小程序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885C9-1AA3-4727-9C9E-8EB43D61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6863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对话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B8809-2613-4549-A8AB-6241F549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054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助手</a:t>
            </a:r>
          </a:p>
        </p:txBody>
      </p:sp>
    </p:spTree>
    <p:extLst>
      <p:ext uri="{BB962C8B-B14F-4D97-AF65-F5344CB8AC3E}">
        <p14:creationId xmlns:p14="http://schemas.microsoft.com/office/powerpoint/2010/main" val="606958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A32E67AA-9F03-45F8-9796-BF236A62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业务能力已贯穿仓储、生产、质量与治理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FB18F-4584-4FA0-9769-53A3FAAF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789E8-1C51-4B1A-B026-8802684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067550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9e4fd65f7400d"/>
          <a:srcRect xmlns:a="http://schemas.openxmlformats.org/drawingml/2006/main" l="75" t="0" r="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57300"/>
            <a:ext cx="7067550" cy="3981450"/>
          </a:xfrm>
          <a:prstGeom xmlns:a="http://schemas.openxmlformats.org/drawingml/2006/main" prst="roundRect">
            <a:avLst>
              <a:gd name="adj" fmla="val 239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96A0C-C312-4F5F-B342-5B368BB8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706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真实运行界面：库位状态、筛选与空间定位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DCE2F-BE2A-4A25-8110-2E8C87E9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85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8BD90-52B1-42A9-9A0E-FFC8EEB6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47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仓储运营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3CFDD-9CD4-4A3E-A0E9-43197F3D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57375"/>
            <a:ext cx="320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库存汇总、库位平面、入库/出库/调拨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DEE65-FA1F-4241-81A2-DBACDEC9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1F921-F198-4750-A2B3-2C539BE8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生产协同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4F305-D305-4E89-B185-049B797B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320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生产订单、领料、产出贴码与来源追溯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088ED-7593-47E2-8F24-97744014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9811A-298B-4FAC-BA52-2CCDBC6B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质量控制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5EFCA-AE21-437C-95E6-5A8BAB13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00475"/>
            <a:ext cx="320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化验、标准、判定、异常与覆盖分析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6A1FA-293E-408F-A383-60BCEAA1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B3450-583D-426E-8905-62D17F4B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62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治理运营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5BF99-8A60-4672-9E32-FA6308ED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72025"/>
            <a:ext cx="320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员工/RBAC、操作日志、报表与审计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B2D5E-9ADA-45A8-AC17-98C9A55D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39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366F0-DD54-4F39-983F-95DB5AAE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15025"/>
            <a:ext cx="1101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产品—批次—托盘—库位—任务，形成可查询、可追溯、可审计的关联事实。</a:t>
            </a:r>
          </a:p>
        </p:txBody>
      </p:sp>
    </p:spTree>
    <p:extLst>
      <p:ext uri="{BB962C8B-B14F-4D97-AF65-F5344CB8AC3E}">
        <p14:creationId xmlns:p14="http://schemas.microsoft.com/office/powerpoint/2010/main" val="1025845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BBA086F-40E8-48AF-91CA-2BF9A22C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前端不仅展示数据，也承载复杂业务操作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61BFA-9CFD-40EA-BFCF-FF6CB5FB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B2AC6-2DBF-4864-91B7-0AE2D8F9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56769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d18c560da42db"/>
          <a:srcRect xmlns:a="http://schemas.openxmlformats.org/drawingml/2006/main" l="112" t="0" r="1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00150"/>
            <a:ext cx="5676900" cy="3200400"/>
          </a:xfrm>
          <a:prstGeom xmlns:a="http://schemas.openxmlformats.org/drawingml/2006/main" prst="roundRect">
            <a:avLst>
              <a:gd name="adj" fmla="val 297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F5A4F-CE07-461D-957D-AA4731F1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00150"/>
            <a:ext cx="54864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66edfae2d4d2a"/>
          <a:srcRect xmlns:a="http://schemas.openxmlformats.org/drawingml/2006/main" l="1786" t="0" r="17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200150"/>
            <a:ext cx="5486400" cy="3200400"/>
          </a:xfrm>
          <a:prstGeom xmlns:a="http://schemas.openxmlformats.org/drawingml/2006/main" prst="roundRect">
            <a:avLst>
              <a:gd name="adj" fmla="val 29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3E7A9-A973-406A-8486-0158221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567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生产订单：领料、产出、贴码与进度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DEBD8-013B-404C-8DDE-9FC73FAD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质量管理：筛选、状态、标准与记录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4991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E05CA-1F06-4FAC-A215-94D1E2C0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技术基础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44A9B-E2B3-46D5-B9A6-67A6E75B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Vue 3 · Vite · Element Plus · Pinia · ECharts · Vue Router · i18n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D3E7F-18E5-4CE3-B6C7-865874A3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CC998-A36A-431E-9B3E-B6E5D790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118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动态路由、权限菜单、多页签、复杂表格与业务弹窗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44D54-2316-4DD0-B665-243517E4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B8DF9-11E6-4DEC-841A-0CC817E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118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响应式布局、扫码/打印、统一错误处理和展示安全适配</a:t>
            </a:r>
          </a:p>
        </p:txBody>
      </p:sp>
    </p:spTree>
    <p:extLst>
      <p:ext uri="{BB962C8B-B14F-4D97-AF65-F5344CB8AC3E}">
        <p14:creationId xmlns:p14="http://schemas.microsoft.com/office/powerpoint/2010/main" val="1312854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24B4D7B-BD4F-4F47-9BBC-527618C5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前后端通过清晰分层承载 227 个 HTTP 接口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3B6EC-245D-4095-BA13-C4AB68F9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B4FB8-B950-4D13-A052-1B598F8B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314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FB286-CF75-4E36-851F-77AE3190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1AC5E-9FE2-418A-85F0-74F2209B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33675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按业务域划分入口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D97C6-15FF-4B46-9677-3B175E55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52550"/>
            <a:ext cx="142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227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15EE3-A59A-4685-B6A1-4B3E6AED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33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HTTP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503F6-2550-46E4-A8FD-BBE51D59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336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运行时文档可检索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0E6CA-3F82-473D-8E1F-45128106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52550"/>
            <a:ext cx="123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383FC-90B6-460E-A9F9-F761BF59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Vue 组件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1B08F-BFBA-4E7A-877F-99696208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33675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页面与业务组件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4C5F9-E2CA-4FC0-98E8-A602700B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5C00F-4FF0-4F3F-B02F-7AFCF133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07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Controller 仅接收/返回 DTO、VO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70F30-FF99-49DC-80A6-13B1865F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F9809-F789-4C09-B81E-00551E84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07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Service 承担业务规则与事务边界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ABAFC-7968-4385-8248-2E624E41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D94B3-F36B-4548-9B91-D74FF3CA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7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Mapper / PO 对接 MySQL 持久化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D8A2E-B144-4408-B3F1-1CDC93C2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C1AAF-DD55-4AF4-BFC0-6DE5F3EF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407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统一 Result、分页、校验与异常处理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BD1384-3D72-4D1F-ABA0-F1E4CB4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38250"/>
            <a:ext cx="674370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464a159d4425a"/>
          <a:srcRect xmlns:a="http://schemas.openxmlformats.org/drawingml/2006/main" l="7452" t="0" r="74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238250"/>
            <a:ext cx="6743700" cy="4457700"/>
          </a:xfrm>
          <a:prstGeom xmlns:a="http://schemas.openxmlformats.org/drawingml/2006/main" prst="roundRect">
            <a:avLst>
              <a:gd name="adj" fmla="val 2137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A07E8-277C-4C4F-9E78-06A4F020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29300"/>
            <a:ext cx="67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Knife4j / OpenAPI：接口分组、方法统计与在线检索</a:t>
            </a:r>
          </a:p>
        </p:txBody>
      </p:sp>
    </p:spTree>
    <p:extLst>
      <p:ext uri="{BB962C8B-B14F-4D97-AF65-F5344CB8AC3E}">
        <p14:creationId xmlns:p14="http://schemas.microsoft.com/office/powerpoint/2010/main" val="688448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07A271C-6EA6-4E1A-B6FB-D9DB3A57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数据模型把实时库存、追溯与审计统一到同一事实基础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37E36-3E35-4438-9CD3-97A252D5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92C7A-9576-4D48-B683-5812392F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42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67BAC-A2D4-4751-8188-61071F98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数据表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E8F11-A69F-4046-B60F-36A72DCB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本地开发库实测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6B9C3-8C0E-446B-9599-D4CA748A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76350"/>
            <a:ext cx="152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2EE36-35A7-4F21-A576-56AB776C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574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迁移脚本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C7A45-1790-4A46-A42D-F611F129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57475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按日期可追溯演进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A399E-4910-42BD-9089-B1CF1EC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52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数据分层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DD476-5BBB-4D98-9EA2-104DA50B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240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4D2F7-2BAF-4F71-B67D-85DC3B1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859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主数据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034F7-D8AF-4228-AA38-6506E41B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859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产品、库位、筛网、质量标准、员工与角色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C72C9-7B71-4FD0-9834-61934FBA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AB119-3AAE-4CBE-B6FB-FD8A2359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55FBB-C8A6-41CA-8A47-8D18F79C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4322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库存、出入库、托盘任务、生产订单、化验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265B3-CC1E-4108-88BE-E18D6EA7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3855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14A2F-3053-4A1E-81AD-03989901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004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历史事实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81697-520B-4596-BF95-71910699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004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库存流水、日终快照、守恒对账、流转时间线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23B39-2D61-4118-BBED-594732F4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9580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13602-77B9-4395-8848-A571440F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577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审计资产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5D920-26E1-4160-AF2D-8473590D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5772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操作日志、Agent 会话/调用、报表快照与导出审计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00050" y="5257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11CA3-1F6B-4FBF-B706-57E671E7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61657-FC8B-42E6-9429-367BC5E6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1182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事务、行锁与唯一约束保护关键库存动作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586F05-E116-499B-A45A-3FA31421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018ABC-E5EE-4C9E-9A44-1DA83216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1182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迁移脚本让结构变更可审查、可部署、可回退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4CD59-9E14-4279-98E5-9AAF4E90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51470-E6AB-4362-B59B-558BC08D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1182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快照、哈希与不可变报表确保结果可复核</a:t>
            </a:r>
          </a:p>
        </p:txBody>
      </p:sp>
    </p:spTree>
    <p:extLst>
      <p:ext uri="{BB962C8B-B14F-4D97-AF65-F5344CB8AC3E}">
        <p14:creationId xmlns:p14="http://schemas.microsoft.com/office/powerpoint/2010/main" val="932943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55BB533B-0CBC-48A1-BB38-897918FE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部署形态可从本地联调平滑过渡到容器化交付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FB812-98D8-4E78-AD98-F105B348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50CC3-1B6B-4316-B250-36ADDA56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Compose 编排 Nginx、Java 后端、Python Agent 与 Redis；MySQL 作为外部持久化数据源。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857500" y="3238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058150" y="3238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6019800" y="4629150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5DD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91FCE-8AAA-4518-99F5-935B43F6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3431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E19EB-11C9-4DDE-86B0-6BFED82D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访问层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5C441-5049-485F-AFCB-E2FED9A3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809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Web 管理端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微信小程序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AI 助手入口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F62FF-2790-423F-A8EA-C81DE73D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71650"/>
            <a:ext cx="40576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4C1CE-613A-405A-992E-B9C86550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应用服务层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248150" y="3019425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7938F-794E-491D-B970-3A5E6D9D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Nginx 1.27｜TLS、静态资源、反向代理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248150" y="348615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C7B43-31FD-4E59-95F6-A4F0B297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52775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Java 21｜Spring Boot 业务与权限中心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248150" y="3952875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89AE1-4022-49B6-A9B5-C892103C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195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Python｜模块化 Agent Runtime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248150" y="4419600"/>
            <a:ext cx="354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0A62F-E729-41EF-8646-BA6BE6B8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86225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MCP JAR｜受控工具与后端访问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FCF08-64F2-464A-88AA-2538E391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52650"/>
            <a:ext cx="24003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DE630-F5DA-4E7B-B651-401C6530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数据与状态层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696DF1-7467-49C9-A81C-910F35DB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MySQL 8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Redis 7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只读 RAG 版本制品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E454D-2435-4589-AE94-6C2B8D5E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34000"/>
            <a:ext cx="758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9C2C7-9869-4C25-962C-63BCD6A6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149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交付策略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C4597-37E1-4183-ACA2-08A71191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14975"/>
            <a:ext cx="582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3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环境变量注入密钥 · 健康检查 · 只读挂载 · 独立日志 · 可替换运行组件</a:t>
            </a:r>
          </a:p>
        </p:txBody>
      </p:sp>
    </p:spTree>
    <p:extLst>
      <p:ext uri="{BB962C8B-B14F-4D97-AF65-F5344CB8AC3E}">
        <p14:creationId xmlns:p14="http://schemas.microsoft.com/office/powerpoint/2010/main" val="4567040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C04B0B7-E189-41DB-93FC-72576841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安全不是附加项，而是贯穿身份、权限与审计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A973A-22AD-4CDE-9A8D-CF412BAB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FA450-4DB1-4E83-83D5-15F9CD47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从一次登录到一次 Agent 工具调用，每个环节都有独立校验责任。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609850" y="31242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5467350" y="31242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8324850" y="31242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5918B-C5C6-455E-864F-392D5F68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209800" cy="23241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69603-B187-4D7A-ABFD-CF455EB0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8FB0F-6F2B-473A-819A-716FC44E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身份可信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031CB-0A2F-4A39-B992-6356D226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JWT Bearer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Agent 委派身份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会话撤销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2B7C9-B8DA-41E8-871C-C76947FB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62150"/>
            <a:ext cx="24193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A6223-F5DF-4E75-A1F8-85965FD8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2236A-7B74-4D99-88F3-14EF9932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权限可证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D1593-2D88-4A74-9135-D43D02E8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Spring Security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@PreAuthorize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RBAC 权限矩阵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13889-8634-4E5C-BFE2-E1CBFF22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62150"/>
            <a:ext cx="24193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25B5E-57A5-4847-8C08-EC3BC73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31A3D-FF05-4633-A54A-DCB75267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业务安全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E97B8-C5ED-4528-9D34-F36282B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57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参数校验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事务与锁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预览/确认门禁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93353-3344-44D1-9512-6B76B98E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24193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F4460-8720-4B19-BB35-BBB671F1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61085-19AF-4CA9-BA61-9EF8B410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全程审计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D2F36-3E21-4A66-BC8F-5B031EA4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AOP 操作日志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工具调用审计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不可变报表快照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31858-C954-41FF-80A4-C2BE0ADE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C3616A-1B6F-47ED-8964-DC352133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三条红线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2EA89-36E1-4F08-87C4-70833F8A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625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不开放任意 SQL / HTTP 代理　·　Agent 不猜业务 ID　·　普通用户不见 token、raw JSON 与内部堆栈</a:t>
            </a:r>
          </a:p>
        </p:txBody>
      </p:sp>
    </p:spTree>
    <p:extLst>
      <p:ext uri="{BB962C8B-B14F-4D97-AF65-F5344CB8AC3E}">
        <p14:creationId xmlns:p14="http://schemas.microsoft.com/office/powerpoint/2010/main" val="1189349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CD313AB6-EE26-4CD8-8DAB-1370E85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Agent 已成为业务入口，而不是聊天外挂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BD201-8B96-47CE-9DEF-FA918952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E1774-1ABF-4B43-9808-B032ED1B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981950" cy="44958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bf03ecaf54af1"/>
          <a:srcRect xmlns:a="http://schemas.openxmlformats.org/drawingml/2006/main" l="66" t="0" r="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00150"/>
            <a:ext cx="7981950" cy="4495800"/>
          </a:xfrm>
          <a:prstGeom xmlns:a="http://schemas.openxmlformats.org/drawingml/2006/main" prst="roundRect">
            <a:avLst>
              <a:gd name="adj" fmla="val 211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72FAE-FE99-4BE7-83F2-0FBF6BA0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798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真实运行界面：会话连接、建议问题、业务范围与自然语言输入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EC052-7600-4E70-B76E-12E0859A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6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用户看到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28295-140B-48D1-AA69-8E807E2B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7DF92-96D3-4ABC-AD6E-703303B7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764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自然语言回答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65056-D1DA-43F7-9CF6-42A64B51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DCF7C-2E48-49AD-BEEC-8CD60D7F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336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业务卡片与候选项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63BCF-8407-46A3-845B-52C0659C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8151D-A309-433E-B904-099FC537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908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进度、追问与建议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67493-416A-4E7A-9769-A5D8D7DC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BDE32-A388-447F-80D0-F28C82D6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480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人话错误解释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861F7-6AD2-4F5F-8343-6009081F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系统保障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2A5C4-18B8-43BB-AF33-A416D6B5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D7248-485E-4CE4-9E3A-B64EB0BE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2647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上下文记忆与专家路由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9D3EF-4269-4A53-9A99-93F2C2C7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06141-32AD-49A6-8230-B19CEB8F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14925"/>
            <a:ext cx="2647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安全事实适配与权限审计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7F714-354C-480E-80E1-B91D8D25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5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DF2D51-3704-4ACB-AFA4-D039162C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43550"/>
            <a:ext cx="2647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只读查询、报表和预览</a:t>
            </a:r>
          </a:p>
        </p:txBody>
      </p:sp>
    </p:spTree>
    <p:extLst>
      <p:ext uri="{BB962C8B-B14F-4D97-AF65-F5344CB8AC3E}">
        <p14:creationId xmlns:p14="http://schemas.microsoft.com/office/powerpoint/2010/main" val="20690929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AAE16008-AFDE-46EE-AEFA-A3205CBE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Agent 的能力边界由模型之外的系统来保证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02A8B-EF38-441B-8A57-28DAA2F6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34DA9-C3EB-49E0-8E18-23A17443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模型负责理解与分析；Runtime、MCP 与后端负责授权、参数、事实和完成判定。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2266950" y="2705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4552950" y="2705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6838950" y="2705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9124950" y="2705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660EC-0007-412B-A9BD-F8E76C92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8669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99AF-CBF5-4523-8C40-383F53F5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用户目标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DAAC8-36F4-4749-BAF0-6BF95060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自然语言与上下文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EAEA6-C9E0-46B0-A113-CF9D16FA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38350"/>
            <a:ext cx="18669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0A277-3ADA-4CB5-972D-A13ABD98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479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主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11A45-614A-455E-BD4F-ED9260B9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432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理解目标、追问、委派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B279C-8F8D-4619-AAFB-6D6AA69E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38350"/>
            <a:ext cx="18669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2DD2A-E8EA-420D-92B0-33735EB2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479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最小权限专家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32941-D3BA-44E5-9A58-6D4DDEB4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432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只见本域上下文与工具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C10A8-5746-403E-91DB-E51F4431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38350"/>
            <a:ext cx="18669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D1ACA-2576-4E80-B1B7-26C771FA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479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MCP Tool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4A867-ADBE-417C-81ED-0E771C39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432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Schema、白名单、受控参数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A122B-ACA0-4C89-BA4D-506315BB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38350"/>
            <a:ext cx="18669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4CBD1-AEC2-48E3-A7BD-32F54051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479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后端事实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E88C3-896E-49FD-8B9C-6605252E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432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权限、事务、审计、数据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D3324-34A0-480F-A382-6E076ABE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39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32D38-11A6-4E90-9151-74437F00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Runtime 安全校验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26073-27EF-4340-AC7C-E2236157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00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工具白名单 · 参数 Schema · 受控实体引用 · 调用次数 · 用户权限 · CompletionEvaluator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BAE25F-2F34-42CF-946A-60E283A6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B4BA3-16D5-494B-9DF6-C52007D1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L0 / L1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8A5E63-0005-415E-883C-45F63B7F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14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帮助与实时只读查询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C39BD8-C8C3-427F-B812-D79C6B9A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9B7A36-7F13-4786-8B47-DFC6CBAC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244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9B1121-125F-4365-A90C-3773619B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14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预览、校验与登记报表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A2431-EDA4-4100-AC35-CC0AA88E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9AF2EF-1CD0-4835-9E9D-7C72E0D0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244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L3 / L4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4FE041-097C-461A-93D8-DDDEDB85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14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未闭合门禁前不开放</a:t>
            </a:r>
          </a:p>
        </p:txBody>
      </p:sp>
    </p:spTree>
    <p:extLst>
      <p:ext uri="{BB962C8B-B14F-4D97-AF65-F5344CB8AC3E}">
        <p14:creationId xmlns:p14="http://schemas.microsoft.com/office/powerpoint/2010/main" val="251631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42FC30EA-B3C1-4247-9749-3557B38A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可测试、可观测、可回滚，才称得上可维护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4A936-FC0D-46F9-9AFF-D394C11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F5448-47F1-42F1-8C08-A8DA0CB0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145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11CF3-8DCD-4876-84B4-58A00178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测试源文件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04F06-198B-4E3D-AD03-8EAAD84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Java / MCP / Python / Web / E2E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0FFA7-F9D2-4A34-AA9A-E31205A3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自动化验证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64239-3BF1-47D9-803C-9440D634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552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单元、集成、权限矩阵、浏览器旅程与发布门禁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57650" y="2162175"/>
            <a:ext cx="7734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94262-99E4-4FAD-9D59-BE0758C7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193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可观测性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D7A46-53A2-4ACD-BE3D-0DC77FBE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552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操作日志、Agent 调用审计、错误分类与耗时记录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57650" y="3152775"/>
            <a:ext cx="7734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D9F3D-5CC2-4B72-BCCA-8679BC33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099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可恢复性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EC584-0300-4E2E-BDCF-AF88C8E4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552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版本化迁移、不可变报表、RAG 发布切换与回滚设计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57650" y="4143375"/>
            <a:ext cx="7734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848AB-92BC-4A3E-B5B3-E63CCEE9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005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运维资料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1149D-C978-4065-AB6E-0B38CBE6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00550"/>
            <a:ext cx="552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部署说明、故障排查、验收记录与运行手册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9FA2E-D7D2-42D2-86BA-90D2AD50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D20F6-1B8F-4EBB-8D70-DA276C12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质量资产覆盖代码、数据、权限、交互和运行现场，而不是只做接口自测。</a:t>
            </a:r>
          </a:p>
        </p:txBody>
      </p:sp>
    </p:spTree>
    <p:extLst>
      <p:ext uri="{BB962C8B-B14F-4D97-AF65-F5344CB8AC3E}">
        <p14:creationId xmlns:p14="http://schemas.microsoft.com/office/powerpoint/2010/main" val="11383770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17AF5B3A-AE3A-4B20-95FC-7D26353B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成熟度来自明确的准入门槛，而不是功能数量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64960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55B8C-9EC7-48BB-AF6D-CD63CAA2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6B7D6-0857-46D4-BE83-C32F7C06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每个高风险能力都必须先证明权限、确认、幂等、事务与审计闭环。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723900" y="3200400"/>
            <a:ext cx="10363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22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ADECA-50B1-4F84-AC74-84C65766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BDB1F-A603-4F17-8D8E-26ADFDA4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524A4-C526-48CF-A711-B8E99EE9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安全查询与预览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641B5-E10D-40F4-977B-35901C3A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L0/L1 只读工具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L2 预览与登记报表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业务卡片和历史重开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32C56-35BE-4C4C-9D9D-3050EEAC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83A3E-E759-41D4-A53C-42DAAF4B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1BC9C-F7D8-4950-A799-46565281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执行安全层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8BA36-5BA4-46B5-A65C-EAFC178B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executionToken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幂等键与内容绑定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HITL、过期与重检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D4D05-22BB-4EAB-A09A-8E5A218B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91D16-10EF-49A1-8064-95D08C76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未来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84EC8-9794-43E7-89C6-980BF809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有限写入与优化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1891F-87F1-4838-9AA9-68C15505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逐项开放 L3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群聊只做跳转确认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预测与仿真先做建议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6F77D-7F9B-468D-AD3D-739E7F2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D28CB-6061-40CD-B78E-0FD024A0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原则：不把设计条目当作已实现能力；高风险功能必须逐项验收后开放。</a:t>
            </a:r>
          </a:p>
        </p:txBody>
      </p:sp>
    </p:spTree>
    <p:extLst>
      <p:ext uri="{BB962C8B-B14F-4D97-AF65-F5344CB8AC3E}">
        <p14:creationId xmlns:p14="http://schemas.microsoft.com/office/powerpoint/2010/main" val="11348308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5787B-594C-4DFE-9316-E0E25BDD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C801C-52EA-4EC9-B933-DCB54799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把一个项目的方法论，</a:t>
            </a:r>
          </a:p>
          <a:p xmlns:a="http://schemas.openxmlformats.org/drawingml/2006/main">
            <a:pPr algn="l">
              <a:defRPr sz="4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复制到更多企业场景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E8E24-AF09-402F-BDEC-066A78D0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69FF"/>
                </a:solidFill>
                <a:latin typeface="Microsoft YaHei"/>
                <a:ea typeface="Microsoft YaHei"/>
                <a:cs typeface="Microsoft YaHei"/>
              </a:rPr>
              <a:t>业务建模 × 工程实现 × 可运维交付 × 受控智能化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855AC-0CB5-4F6E-986E-6590431B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可迁移到制造、仓储、质量、供应链、设备与运营分析等场景。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52578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2CE09-335F-4CC5-BD7D-62E3AA15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建议下一步：选择一个高价值流程，完成现状诊断 → 方案蓝图 → 试点验证 → 分阶段上线</a:t>
            </a:r>
          </a:p>
        </p:txBody>
      </p:sp>
    </p:spTree>
    <p:extLst>
      <p:ext uri="{BB962C8B-B14F-4D97-AF65-F5344CB8AC3E}">
        <p14:creationId xmlns:p14="http://schemas.microsoft.com/office/powerpoint/2010/main" val="878957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2026-08-09T14:35:08.6220000Z</dcterms:created>
  <dcterms:modified xsi:type="dcterms:W3CDTF">2026-08-09T14:35:08.6220000Z</dcterms:modified>
</coreProperties>
</file>