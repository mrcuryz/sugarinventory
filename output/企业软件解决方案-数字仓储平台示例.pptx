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6593d39c240f5" /><Relationship Type="http://schemas.openxmlformats.org/officeDocument/2006/relationships/extended-properties" Target="/docProps/app.xml" Id="R64864a664924461e" /><Relationship Type="http://schemas.openxmlformats.org/officeDocument/2006/relationships/officeDocument" Target="/ppt/presentation.xml" Id="Rbcad09812882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c7eb390efd424d"/>
  </p:sldMasterIdLst>
  <p:notesMasterIdLst>
    <p:notesMasterId xmlns:r="http://schemas.openxmlformats.org/officeDocument/2006/relationships" r:id="Refdec957a1674dd6"/>
  </p:notesMasterIdLst>
  <p:sldIdLst>
    <p:sldId xmlns:r="http://schemas.openxmlformats.org/officeDocument/2006/relationships" id="256" r:id="Rbf8cc08e922b4e54"/>
    <p:sldId xmlns:r="http://schemas.openxmlformats.org/officeDocument/2006/relationships" id="257" r:id="Rf53374387f584244"/>
    <p:sldId xmlns:r="http://schemas.openxmlformats.org/officeDocument/2006/relationships" id="258" r:id="Rc5f1af9e99854784"/>
    <p:sldId xmlns:r="http://schemas.openxmlformats.org/officeDocument/2006/relationships" id="259" r:id="Rc7e5013ad082472d"/>
    <p:sldId xmlns:r="http://schemas.openxmlformats.org/officeDocument/2006/relationships" id="260" r:id="Rff6db16d760c4067"/>
    <p:sldId xmlns:r="http://schemas.openxmlformats.org/officeDocument/2006/relationships" id="261" r:id="R405a53002ac84624"/>
    <p:sldId xmlns:r="http://schemas.openxmlformats.org/officeDocument/2006/relationships" id="262" r:id="R70f37b9a7bb74380"/>
    <p:sldId xmlns:r="http://schemas.openxmlformats.org/officeDocument/2006/relationships" id="263" r:id="Rb59c9715c86f43da"/>
    <p:sldId xmlns:r="http://schemas.openxmlformats.org/officeDocument/2006/relationships" id="264" r:id="R7f799713edbc4682"/>
    <p:sldId xmlns:r="http://schemas.openxmlformats.org/officeDocument/2006/relationships" id="265" r:id="R29324c95d7d04ca6"/>
    <p:sldId xmlns:r="http://schemas.openxmlformats.org/officeDocument/2006/relationships" id="266" r:id="R06070ce539754b4f"/>
    <p:sldId xmlns:r="http://schemas.openxmlformats.org/officeDocument/2006/relationships" id="267" r:id="R3c4955671cdf4ace"/>
    <p:sldId xmlns:r="http://schemas.openxmlformats.org/officeDocument/2006/relationships" id="268" r:id="R35925e2a0ee146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38c8612a534612" /><Relationship Type="http://schemas.openxmlformats.org/officeDocument/2006/relationships/slideMaster" Target="/ppt/slideMasters/slideMaster1.xml" Id="R9dc7eb390efd424d" /><Relationship Type="http://schemas.openxmlformats.org/officeDocument/2006/relationships/notesMaster" Target="/ppt/notesMasters/notesMaster1.xml" Id="Refdec957a1674dd6" /><Relationship Type="http://schemas.openxmlformats.org/officeDocument/2006/relationships/presProps" Target="/ppt/presProps.xml" Id="R38657f64b3f34968" /><Relationship Type="http://schemas.openxmlformats.org/officeDocument/2006/relationships/tableStyles" Target="/ppt/tableStyles.xml" Id="R6e2bd172cbed4035" /><Relationship Type="http://schemas.openxmlformats.org/officeDocument/2006/relationships/slide" Target="/ppt/slides/slide1.xml" Id="Rbf8cc08e922b4e54" /><Relationship Type="http://schemas.openxmlformats.org/officeDocument/2006/relationships/slide" Target="/ppt/slides/slide2.xml" Id="Rf53374387f584244" /><Relationship Type="http://schemas.openxmlformats.org/officeDocument/2006/relationships/slide" Target="/ppt/slides/slide3.xml" Id="Rc5f1af9e99854784" /><Relationship Type="http://schemas.openxmlformats.org/officeDocument/2006/relationships/slide" Target="/ppt/slides/slide4.xml" Id="Rc7e5013ad082472d" /><Relationship Type="http://schemas.openxmlformats.org/officeDocument/2006/relationships/slide" Target="/ppt/slides/slide5.xml" Id="Rff6db16d760c4067" /><Relationship Type="http://schemas.openxmlformats.org/officeDocument/2006/relationships/slide" Target="/ppt/slides/slide6.xml" Id="R405a53002ac84624" /><Relationship Type="http://schemas.openxmlformats.org/officeDocument/2006/relationships/slide" Target="/ppt/slides/slide7.xml" Id="R70f37b9a7bb74380" /><Relationship Type="http://schemas.openxmlformats.org/officeDocument/2006/relationships/slide" Target="/ppt/slides/slide8.xml" Id="Rb59c9715c86f43da" /><Relationship Type="http://schemas.openxmlformats.org/officeDocument/2006/relationships/slide" Target="/ppt/slides/slide9.xml" Id="R7f799713edbc4682" /><Relationship Type="http://schemas.openxmlformats.org/officeDocument/2006/relationships/slide" Target="/ppt/slides/slide10.xml" Id="R29324c95d7d04ca6" /><Relationship Type="http://schemas.openxmlformats.org/officeDocument/2006/relationships/slide" Target="/ppt/slides/slide11.xml" Id="R06070ce539754b4f" /><Relationship Type="http://schemas.openxmlformats.org/officeDocument/2006/relationships/slide" Target="/ppt/slides/slide12.xml" Id="R3c4955671cdf4ace" /><Relationship Type="http://schemas.openxmlformats.org/officeDocument/2006/relationships/slide" Target="/ppt/slides/slide13.xml" Id="R35925e2a0ee146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d05222df5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5270c12f74701" /><Relationship Type="http://schemas.openxmlformats.org/officeDocument/2006/relationships/notesMaster" Target="/ppt/notesMasters/notesMaster1.xml" Id="Re10816ccf92545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fc1c9a49dc4f8f" /><Relationship Type="http://schemas.openxmlformats.org/officeDocument/2006/relationships/notesMaster" Target="/ppt/notesMasters/notesMaster1.xml" Id="Racc75b01a6b647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475d2bb3147ab" /><Relationship Type="http://schemas.openxmlformats.org/officeDocument/2006/relationships/notesMaster" Target="/ppt/notesMasters/notesMaster1.xml" Id="Re6a7fc69474c40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0bc63acf974a97" /><Relationship Type="http://schemas.openxmlformats.org/officeDocument/2006/relationships/notesMaster" Target="/ppt/notesMasters/notesMaster1.xml" Id="R27be61dc629b41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72c9f0405040f8" /><Relationship Type="http://schemas.openxmlformats.org/officeDocument/2006/relationships/notesMaster" Target="/ppt/notesMasters/notesMaster1.xml" Id="Rd45f598d5e4244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50488e383c4cb6" /><Relationship Type="http://schemas.openxmlformats.org/officeDocument/2006/relationships/notesMaster" Target="/ppt/notesMasters/notesMaster1.xml" Id="R0f3be88ffe104b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7dadd2893540e0" /><Relationship Type="http://schemas.openxmlformats.org/officeDocument/2006/relationships/notesMaster" Target="/ppt/notesMasters/notesMaster1.xml" Id="R46500e4abc9e48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75fb4b42c4220" /><Relationship Type="http://schemas.openxmlformats.org/officeDocument/2006/relationships/notesMaster" Target="/ppt/notesMasters/notesMaster1.xml" Id="R21e0e83d4f5241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218371a376419a" /><Relationship Type="http://schemas.openxmlformats.org/officeDocument/2006/relationships/notesMaster" Target="/ppt/notesMasters/notesMaster1.xml" Id="Re00de0eb016649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8eee9216454174" /><Relationship Type="http://schemas.openxmlformats.org/officeDocument/2006/relationships/notesMaster" Target="/ppt/notesMasters/notesMaster1.xml" Id="R4f8b0460971549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50d1a09dcf4201" /><Relationship Type="http://schemas.openxmlformats.org/officeDocument/2006/relationships/notesMaster" Target="/ppt/notesMasters/notesMaster1.xml" Id="Re8ab62d1ec2245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88634cafbd417c" /><Relationship Type="http://schemas.openxmlformats.org/officeDocument/2006/relationships/notesMaster" Target="/ppt/notesMasters/notesMaster1.xml" Id="R1e648fb035334a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cea1e45217496b" /><Relationship Type="http://schemas.openxmlformats.org/officeDocument/2006/relationships/notesMaster" Target="/ppt/notesMasters/notesMaster1.xml" Id="R51e7ac545a0144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开场先说明：仓储平台是一个真实案例，用于展示团队从业务分析到软件交付和智能化演进的完整能力。封面背景为通用生成素材，不代表项目现场或客户案例。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D:\Laibin\LaibinSugarInventory\output\ppt-build\enterprise-solution-deck-rebuild-20260809\assets\warehouse-cover.png</a:t>
            </a:r>
          </a:p>
          <a:p xmlns:a="http://schemas.openxmlformats.org/drawingml/2006/main">
            <a:r>
              <a:t>- D:\Laibin\LaibinSugarInventory\output\ppt-build\enterprise-solution-deck-rebuild-20260809\source-notes.txt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本页从客户视角建立问题背景。讲解时可以根据客户行业替换示例，但不要把问题描述成仓储行业独有。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D:\Laibin\LaibinSugarInventory\README.md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强调多端入口共享同一套后端规则和数据，不是分别建设三套系统。AI 助手当前以查询、报表和预览为主。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D:\Laibin\LaibinSugarInventory\webpage\src</a:t>
            </a:r>
          </a:p>
          <a:p xmlns:a="http://schemas.openxmlformats.org/drawingml/2006/main">
            <a:r>
              <a:t>- D:\Laibin\LaibinSugarInventory\src\main\java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这是项目真实运行界面。讲解链路：来源批次 → 半成品生产订单 → 实际产出 → 二维码批次 → 入库；系统还可继续关联库位、领用和下游生产。截图仅执行查询，没有修改库存。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D:\Laibin\LaibinSugarInventory\output\playwright\solution-deck-20260809\11-boiling-batch-trace.png</a:t>
            </a:r>
          </a:p>
          <a:p xmlns:a="http://schemas.openxmlformats.org/drawingml/2006/main">
            <a:r>
              <a:t>- D:\Laibin\LaibinSugarInventory\webpage\src\components\ProductionBoilingBatches.vue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这一页只展示真实项目截图。主截图用于说明库位空间与库存状态，右侧两张补充生产订单和质量记录。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D:\Laibin\LaibinSugarInventory\output\playwright\solution-deck-20260809\03-warehouse-map.png</a:t>
            </a:r>
          </a:p>
          <a:p xmlns:a="http://schemas.openxmlformats.org/drawingml/2006/main">
            <a:r>
              <a:t>- D:\Laibin\LaibinSugarInventory\output\playwright\solution-deck-20260809\05-production-orders.png</a:t>
            </a:r>
          </a:p>
          <a:p xmlns:a="http://schemas.openxmlformats.org/drawingml/2006/main">
            <a:r>
              <a:t>- D:\Laibin\LaibinSugarInventory\output\playwright\solution-deck-20260809\06-quality-assay.png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227 为本地运行时 Knife4j 页面统计的 HTTP 映射数量。技术栈只作为工程证明，重点说明分层责任：Controller 接收 DTO/VO，Service 承担业务规则与事务，Mapper 负责持久化。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D:\Laibin\LaibinSugarInventory\output\playwright\solution-deck-20260809\10-api-documentation.png</a:t>
            </a:r>
          </a:p>
          <a:p xmlns:a="http://schemas.openxmlformats.org/drawingml/2006/main">
            <a:r>
              <a:t>- D:\Laibin\LaibinSugarInventory\pom.xml</a:t>
            </a:r>
          </a:p>
          <a:p xmlns:a="http://schemas.openxmlformats.org/drawingml/2006/main">
            <a:r>
              <a:t>- D:\Laibin\LaibinSugarInventory\webpage\package.json</a:t>
            </a:r>
          </a:p>
          <a:p xmlns:a="http://schemas.openxmlformats.org/drawingml/2006/main">
            <a:r>
              <a:t>- D:\Laibin\LaibinSugarInventory\src\main\java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数据对象口径来自本地开发库 information_schema：54 张 BASE TABLE、2 个 VIEW。35 个迁移脚本按版本库文件统计，不包含当前未纳入版本的工作区文件。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D:\Laibin\LaibinSugarInventory\output\ppt-build\enterprise-solution-deck-rebuild-20260809\source-notes.txt</a:t>
            </a:r>
          </a:p>
          <a:p xmlns:a="http://schemas.openxmlformats.org/drawingml/2006/main">
            <a:r>
              <a:t>- D:\Laibin\LaibinSugarInventory\migrations</a:t>
            </a:r>
          </a:p>
          <a:p xmlns:a="http://schemas.openxmlformats.org/drawingml/2006/main">
            <a:r>
              <a:t>- D:\Laibin\LaibinSugarInventory\laibin.sql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部署架构来自项目 Docker Compose：Nginx、Java 后端、Python Agent、Redis 和外部 MySQL；RAG 运行时制品采用只读挂载。TLS、环境变量、健康检查和日志作为交付约束说明。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D:\Laibin\LaibinSugarInventory\docker\docker-compose.yml</a:t>
            </a:r>
          </a:p>
          <a:p xmlns:a="http://schemas.openxmlformats.org/drawingml/2006/main">
            <a:r>
              <a:t>- D:\Laibin\LaibinSugarInventory\deploy\simple\docker-compose.yml</a:t>
            </a:r>
          </a:p>
          <a:p xmlns:a="http://schemas.openxmlformats.org/drawingml/2006/main">
            <a:r>
              <a:t>- D:\Laibin\LaibinSugarInventory\docs\agent\agent-production-deployment.md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安全链路覆盖 JWT、Spring Security、RBAC、业务参数校验和 AOP 操作日志。Agent 不直接获得数据库权限，也不能绕过后端事务和权限判断。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D:\Laibin\LaibinSugarInventory\src\main\java\com\Laibin\SugarInventory\SpringSecurity</a:t>
            </a:r>
          </a:p>
          <a:p xmlns:a="http://schemas.openxmlformats.org/drawingml/2006/main">
            <a:r>
              <a:t>- D:\Laibin\LaibinSugarInventory\src\main\java\com\Laibin\SugarInventory\aspect\OperationLogAspect.java</a:t>
            </a:r>
          </a:p>
          <a:p xmlns:a="http://schemas.openxmlformats.org/drawingml/2006/main">
            <a:r>
              <a:t>- D:\Laibin\LaibinSugarInventory\docs\mcp\mcp-auth-design.md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用三个业务问题说明 Agent 的价值：理解自然语言、调用受控工具、读取真实业务数据并返回可解释结果。当前重点是只读查询、注册报表和部分业务预览，不描述为全自动写入。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D:\Laibin\LaibinSugarInventory\output\playwright\solution-deck-20260809\09-ai-assistant.png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  <a:p xmlns:a="http://schemas.openxmlformats.org/drawingml/2006/main">
            <a:r>
              <a:t>- D:\Laibin\LaibinSugarInventory\docs\mcp\mcp-tool-registry.md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 Agent 负责理解目标和编排，领域 Agent 只看到最小上下文与工具，MCP Tool 使用参数 Schema 和白名单，后端做最终权限、事务与审计。L3/L4 不描述为已上线。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D:\Laibin\LaibinSugarInventory\docs\agent\modular-agent-architecture.md</a:t>
            </a:r>
          </a:p>
          <a:p xmlns:a="http://schemas.openxmlformats.org/drawingml/2006/main">
            <a:r>
              <a:t>- D:\Laibin\LaibinSugarInventory\docs\mcp\mcp-tool-registry.md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145 为版本库内测试源文件盘点数量：Java、MCP、Python、Web 单元测试和 E2E。明确提醒客户：数量不等于当前全部通过。当前工作区正在开发的未纳入版本文件不计入。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D:\Laibin\LaibinSugarInventory\output\ppt-build\enterprise-solution-deck-rebuild-20260809\source-notes.txt</a:t>
            </a:r>
          </a:p>
          <a:p xmlns:a="http://schemas.openxmlformats.org/drawingml/2006/main">
            <a:r>
              <a:t>- D:\Laibin\LaibinSugarInventory\src\test</a:t>
            </a:r>
          </a:p>
          <a:p xmlns:a="http://schemas.openxmlformats.org/drawingml/2006/main">
            <a:r>
              <a:t>- D:\Laibin\LaibinSugarInventory\warehouse-mcp\src\test</a:t>
            </a:r>
          </a:p>
          <a:p xmlns:a="http://schemas.openxmlformats.org/drawingml/2006/main">
            <a:r>
              <a:t>- D:\Laibin\LaibinSugarInventory\agent-service\tests</a:t>
            </a:r>
          </a:p>
          <a:p xmlns:a="http://schemas.openxmlformats.org/drawingml/2006/main">
            <a:r>
              <a:t>- D:\Laibin\LaibinSugarInventory\webpage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结束时回到核心定位：数字仓储只是证明样例，业务建模、软件研发、数据治理、部署运维和 Agent 治理方法可以复制。建议从一个有明确边界和验收标准的高价值流程开始。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D:\Laibin\LaibinSugarInventory\README.md</a:t>
            </a:r>
          </a:p>
          <a:p xmlns:a="http://schemas.openxmlformats.org/drawingml/2006/main">
            <a:r>
              <a:t>- D:\Laibin\LaibinSugarInventory\docs\mcp-analysis\system-capability-map.md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f67619de3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da356e0e724700" /><Relationship Type="http://schemas.openxmlformats.org/officeDocument/2006/relationships/slideLayout" Target="/ppt/slideLayouts/slideLayout1.xml" Id="R949f1d36f87b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f1d36f87b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c896058f5488a" /><Relationship Type="http://schemas.openxmlformats.org/officeDocument/2006/relationships/image" Target="/ppt/media/image.png" Id="R233fdcca558545ad" /><Relationship Type="http://schemas.openxmlformats.org/officeDocument/2006/relationships/notesSlide" Target="/ppt/notesSlides/notesSlide1.xml" Id="Rd0e7fb917a704f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c02f81c98401c" /><Relationship Type="http://schemas.openxmlformats.org/officeDocument/2006/relationships/notesSlide" Target="/ppt/notesSlides/notesSlide2.xml" Id="R7504f757daf949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3e5efb504734" /><Relationship Type="http://schemas.openxmlformats.org/officeDocument/2006/relationships/notesSlide" Target="/ppt/notesSlides/notesSlide3.xml" Id="R2b031a921e18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cd6aaed7d40ff" /><Relationship Type="http://schemas.openxmlformats.org/officeDocument/2006/relationships/image" Target="/ppt/media/image2.png" Id="R525fafc411634f65" /><Relationship Type="http://schemas.openxmlformats.org/officeDocument/2006/relationships/notesSlide" Target="/ppt/notesSlides/notesSlide4.xml" Id="R65e6b109133a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c29d3290640e9" /><Relationship Type="http://schemas.openxmlformats.org/officeDocument/2006/relationships/image" Target="/ppt/media/image3.png" Id="R796ad5911f0f42d9" /><Relationship Type="http://schemas.openxmlformats.org/officeDocument/2006/relationships/image" Target="/ppt/media/image4.png" Id="Rfb3c43418a794528" /><Relationship Type="http://schemas.openxmlformats.org/officeDocument/2006/relationships/image" Target="/ppt/media/image5.png" Id="R6370f8b144474d91" /><Relationship Type="http://schemas.openxmlformats.org/officeDocument/2006/relationships/notesSlide" Target="/ppt/notesSlides/notesSlide5.xml" Id="R050d478b0e314e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b7e96a38f418c" /><Relationship Type="http://schemas.openxmlformats.org/officeDocument/2006/relationships/image" Target="/ppt/media/image6.png" Id="R601352007a054f63" /><Relationship Type="http://schemas.openxmlformats.org/officeDocument/2006/relationships/notesSlide" Target="/ppt/notesSlides/notesSlide6.xml" Id="Rd14baf9d2f4144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442cdd2e341f5" /><Relationship Type="http://schemas.openxmlformats.org/officeDocument/2006/relationships/notesSlide" Target="/ppt/notesSlides/notesSlide7.xml" Id="R1a32287015e446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972fcbdc54173" /><Relationship Type="http://schemas.openxmlformats.org/officeDocument/2006/relationships/notesSlide" Target="/ppt/notesSlides/notesSlide8.xml" Id="Rf1432f9e9f9b42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9c499238c427b" /><Relationship Type="http://schemas.openxmlformats.org/officeDocument/2006/relationships/notesSlide" Target="/ppt/notesSlides/notesSlide9.xml" Id="R56a55871031c4c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6416058424ec8" /><Relationship Type="http://schemas.openxmlformats.org/officeDocument/2006/relationships/image" Target="/ppt/media/image7.png" Id="Rf5a0dfac48704343" /><Relationship Type="http://schemas.openxmlformats.org/officeDocument/2006/relationships/notesSlide" Target="/ppt/notesSlides/notesSlide10.xml" Id="R75861f8668cf45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89036d25741e7" /><Relationship Type="http://schemas.openxmlformats.org/officeDocument/2006/relationships/notesSlide" Target="/ppt/notesSlides/notesSlide11.xml" Id="Rbfa0c2dd306240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ab381e38e44c5" /><Relationship Type="http://schemas.openxmlformats.org/officeDocument/2006/relationships/notesSlide" Target="/ppt/notesSlides/notesSlide12.xml" Id="Ra39fab61e8784a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40e79a4ce487c" /><Relationship Type="http://schemas.openxmlformats.org/officeDocument/2006/relationships/notesSlide" Target="/ppt/notesSlides/notesSlide13.xml" Id="R4aa6ccc1cfe447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fdcca558545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5FED5-6837-4D68-ACE5-EF5B5025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3C6FB-0352-48EF-9233-7BACE136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12F58-F273-4BE0-A907-B650191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5467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企业级软件解决方案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8D4A2-772E-4737-A675-BE9A6958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5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5C5FF"/>
                </a:solidFill>
                <a:latin typeface="Microsoft YaHei"/>
                <a:ea typeface="Microsoft YaHei"/>
                <a:cs typeface="Microsoft YaHei"/>
              </a:rPr>
              <a:t>以数字仓储平台为例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914400" y="4000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F9FA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47F1B-7184-4211-A8B0-149E3CC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2EC"/>
                </a:solidFill>
                <a:latin typeface="Microsoft YaHei"/>
                <a:ea typeface="Microsoft YaHei"/>
                <a:cs typeface="Microsoft YaHei"/>
              </a:rPr>
              <a:t>业务建模｜系统研发｜数据治理｜部署运维｜AI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7130E-0E68-4BB4-8F92-77EF5C2B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98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98B3"/>
                </a:solidFill>
                <a:latin typeface="Microsoft YaHei"/>
                <a:ea typeface="Microsoft YaHei"/>
                <a:cs typeface="Microsoft YaHei"/>
              </a:rPr>
              <a:t>REAL PROJECT  /  ENTERPRISE DELIVERY</a:t>
            </a:r>
          </a:p>
        </p:txBody>
      </p:sp>
    </p:spTree>
    <p:extLst>
      <p:ext uri="{BB962C8B-B14F-4D97-AF65-F5344CB8AC3E}">
        <p14:creationId xmlns:p14="http://schemas.microsoft.com/office/powerpoint/2010/main" val="509175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1B8FC6-F75D-4BB5-A80B-37322FA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BUSINESS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1A88-6528-46EA-9F8E-E2AED9E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企业软件先解决哪些问题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2F30A-D594-4ECF-9C8C-7727383D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先让数据一致、流程可控、责任可追，再考虑更多功能。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48D54-52E0-4BA7-98AD-58EE8BB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F607C-9A35-4F9B-8B65-62A84933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572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F7182-BA09-4877-9C09-56151C8D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90700"/>
            <a:ext cx="4572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C0D52-243D-4E02-866B-F3946F3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现场常见状态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8E7F5-C5B0-471E-AFC6-F2490C17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系统化处理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B0000-A77F-4A73-9F0E-5DED2FBA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5755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C30A7-DD03-4B60-A734-8395C84E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01  库存、生产和质量数据分散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838200" y="29813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E3EA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C5BF3-511A-424F-A256-99DF461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产品、批次、托盘和库位统一记录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239000" y="29813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DE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F931A-51F3-4C22-BEA1-00A7AB9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02  入库、出库依赖人工协调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838200" y="35909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E3EA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D10C8-7F05-4D55-81EE-150C1BA5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任务与状态驱动现场操作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7239000" y="35909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DE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10619-031B-4D20-A10F-4ACA5859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03  出现差异后靠人翻表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838200" y="4200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E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A62A6-D223-4633-B43D-BA1B4112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库存流水和操作日志保留责任链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7239000" y="4200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DED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F8B88-0F1A-48E5-91D2-279F34CC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04  功能上线后难维护和扩展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838200" y="48101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E3E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2CE73-73AA-4E28-87A6-4BE29869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分层架构与迁移流程支持持续升级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7239000" y="48101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DED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DC466-4518-4FA4-8969-9A67BE85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05  AI 停留在通用问答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838200" y="54197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E3EA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9625DF-69E1-48B8-ACA8-9E98CDB4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在权限边界内读取真实业务数据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7239000" y="54197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DED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DA4C9-684B-46B3-A5E0-2C589F69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仓储是案例；真正交付的是业务方法、软件工程和长期维护能力。</a:t>
            </a:r>
          </a:p>
        </p:txBody>
      </p:sp>
    </p:spTree>
    <p:extLst>
      <p:ext uri="{BB962C8B-B14F-4D97-AF65-F5344CB8AC3E}">
        <p14:creationId xmlns:p14="http://schemas.microsoft.com/office/powerpoint/2010/main" val="428694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CB3B5-46AB-466E-B3F3-8F7A98D7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SOLUTION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C5925-E6DF-41DC-898F-79DD1CFB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多端入口连接同一套业务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EE33E-2335-4D9C-B00D-318D36AB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管理人员、现场人员和自然语言用户共享同一套身份、规则与数据。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373C-EBA2-44E7-B099-B558826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1847850" y="2324100"/>
            <a:ext cx="849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CB9D8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2038350" y="26860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CB9D8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6096000" y="26860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CB9D8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10153650" y="26860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CB9D8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6096000" y="3790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6096000" y="48768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3ADA3-6CFB-4F54-9C17-5457F15C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管理人员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DF41E-7A37-413D-8F9B-049CC1F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52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现场人员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62709-A756-43F0-9F47-A33E916D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52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业务用户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81D19-8EFD-4B58-BB56-53B15EAA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866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F1F5D-D43E-4CFF-BA82-A3D1FC6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 管理端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247A8-4483-4D42-A5E5-A69F3D29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0400"/>
            <a:ext cx="1866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73E6"/>
          </a:solidFill>
          <a:ln xmlns:a="http://schemas.openxmlformats.org/drawingml/2006/main" w="9525">
            <a:solidFill>
              <a:srgbClr val="1473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91DDA-3E00-4D65-9EF6-CF29C8E3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04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微信小程序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1D110-1D20-428F-8FD9-9EAE2E5F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1866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F9FA8"/>
          </a:solidFill>
          <a:ln xmlns:a="http://schemas.openxmlformats.org/drawingml/2006/main" w="9525">
            <a:solidFill>
              <a:srgbClr val="0F9F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1DD12-CBED-4727-B175-4E1739D6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2B130-759F-4FC2-9040-A6C6E2CE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9982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9"/>
          </a:solidFill>
          <a:ln xmlns:a="http://schemas.openxmlformats.org/drawingml/2006/main" w="9525">
            <a:solidFill>
              <a:srgbClr val="BFD1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BA096-A14E-4E52-B049-392A1475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998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统一身份与业务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4D435-686B-46DC-AFD0-0D4E951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仓储运营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3486150" y="52578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DC9A6-97DB-48BB-A702-274085A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生产协同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5981700" y="52578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F7D19-E526-44A2-9849-65923EC8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质量管理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8477250" y="52578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BB47B9-565B-4EBE-80E8-AEC66C9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76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权限与审计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DC8D4-C6CC-43F9-8F86-59C942A3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MySQL 业务事实  ·  Redis 状态  ·  报表与只读 RAG 制品</a:t>
            </a:r>
          </a:p>
        </p:txBody>
      </p:sp>
    </p:spTree>
    <p:extLst>
      <p:ext uri="{BB962C8B-B14F-4D97-AF65-F5344CB8AC3E}">
        <p14:creationId xmlns:p14="http://schemas.microsoft.com/office/powerpoint/2010/main" val="1329631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F057F-44FD-4B42-8B7D-98806364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REAL BUSINESS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46382-25AD-474C-AC2D-3017747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一条链路贯通生产与库存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B59E8-CE3E-4E2E-A3AC-B87EAA0F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煮糖批次详情按订单、二维码和库位关系实时组装，无需维护独立追溯台账。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27246-1D6E-4DE1-9DC1-D6618EB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E14AA-B3F7-4DE3-85B8-DB611E2D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7061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fafc411634f65"/>
          <a:srcRect xmlns:a="http://schemas.openxmlformats.org/drawingml/2006/main" l="0" t="13542" r="0" b="13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638300"/>
            <a:ext cx="10668000" cy="4648200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</p:spTree>
    <p:extLst>
      <p:ext uri="{BB962C8B-B14F-4D97-AF65-F5344CB8AC3E}">
        <p14:creationId xmlns:p14="http://schemas.microsoft.com/office/powerpoint/2010/main" val="2058503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68E65-D1DE-4B78-8617-9E18C081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PRODUCT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96134-A5E4-4A55-BD4E-43D43867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真实系统已经覆盖核心场景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2E226-3923-4D01-A5E9-8671C90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库位、生产和质量管理由同一套业务数据驱动。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BFC34-E2D9-4FB8-876A-A4543BC1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B10AF-52C8-4033-B92D-1E6E6D3B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7277100" cy="4343400"/>
          </a:xfrm>
          <a:prstGeom xmlns:a="http://schemas.openxmlformats.org/drawingml/2006/main" prst="roundRect">
            <a:avLst>
              <a:gd name="adj" fmla="val 21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ad5911f0f42d9"/>
          <a:srcRect xmlns:a="http://schemas.openxmlformats.org/drawingml/2006/main" l="2710" t="0" r="2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7239000" cy="4305300"/>
          </a:xfrm>
          <a:prstGeom xmlns:a="http://schemas.openxmlformats.org/drawingml/2006/main" prst="roundRect">
            <a:avLst>
              <a:gd name="adj" fmla="val 177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37643-6DAB-42AE-A60F-9E73B9DB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505200" cy="2038350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c43418a794528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752600"/>
            <a:ext cx="34671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6C5D2-BC08-4FA4-B662-6D47C22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05200" cy="2038350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0f8b144474d91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4057650"/>
            <a:ext cx="34671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CD16B-C635-4EBB-B871-AFAEF10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85B5F-2407-451B-A6A0-73D4A0C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库位管理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402D2-137A-4316-9CD3-E2C112F2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E1285-06DE-489E-95E8-896B6620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生产订单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858D6-AB24-45D6-923D-CC4BB3A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1461B-D9FC-4068-9B76-87FA514C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质量管理</a:t>
            </a:r>
          </a:p>
        </p:txBody>
      </p:sp>
    </p:spTree>
    <p:extLst>
      <p:ext uri="{BB962C8B-B14F-4D97-AF65-F5344CB8AC3E}">
        <p14:creationId xmlns:p14="http://schemas.microsoft.com/office/powerpoint/2010/main" val="1178740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D0A6B-C3B2-42FB-86A8-2BDF1B96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ABFAD-CF16-4384-841D-B42B048E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227 条接口背后的分层工程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99CC6-33B0-4CC4-8CDD-8FD2A8FF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前端交互、业务规则、权限事务和数据访问分别承担清晰责任。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0801A-C03E-4A62-91C9-C81861C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77F38-59A9-41FD-99DB-E237880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84DB6-C355-4AD5-A337-08DB554B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运行时 HTTP 映射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F7529-5CFC-4D75-AC0D-2D1A7C2B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来自本地运行时 OpenAPI 统计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2552700" y="37433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B1D6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E3E62-4392-45E6-B358-B58C4D7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BEE18-AA36-47B1-9A09-501F1D62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 管理端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AE4D5-C4C7-4A86-9991-7CF3E00B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9E6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6F2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2552700" y="42862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B1D6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0F902-3C40-43E5-8FC9-3C64838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C6A53-6908-491D-9FAA-D401A3F9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8407B-7829-4FC4-84E0-A4D6CEB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766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DTO / VO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2552700" y="48291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B1D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77A01-712B-42DE-8986-49986C2D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7FCBF-CCDC-4AE8-8690-52E3639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B1748-86D6-4A81-A241-C602E7EF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196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业务规则 / 事务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552700" y="53721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B1D6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36ADB-0DF9-4996-BB50-0CD6205E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62525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5B835-D333-472B-A279-BBD96C9D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625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Mapper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E26AB-0D8F-4B80-A458-57E90314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MyBatis-Plus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68FE3-4D94-46FD-BD16-5B477B51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ADC8E-366B-4F6F-B29D-1F049194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EDB5BC-8482-4010-92D2-64FC8142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054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MySQL / Redis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CFCCF-0CB9-4045-A166-1D25C15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33550"/>
            <a:ext cx="6400800" cy="3752850"/>
          </a:xfrm>
          <a:prstGeom xmlns:a="http://schemas.openxmlformats.org/drawingml/2006/main" prst="roundRect">
            <a:avLst>
              <a:gd name="adj" fmla="val 2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352007a054f63"/>
          <a:srcRect xmlns:a="http://schemas.openxmlformats.org/drawingml/2006/main" l="1827" t="0" r="18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52600"/>
            <a:ext cx="63627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9B3DC-B376-4730-8B1A-1E6BFFFA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7690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Vue 3  ·  Java 21  ·  Spring Boot 3  ·  Spring Security  ·  MyBatis-Plus  ·  Docker</a:t>
            </a:r>
          </a:p>
        </p:txBody>
      </p:sp>
    </p:spTree>
    <p:extLst>
      <p:ext uri="{BB962C8B-B14F-4D97-AF65-F5344CB8AC3E}">
        <p14:creationId xmlns:p14="http://schemas.microsoft.com/office/powerpoint/2010/main" val="1640425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59B7EC-BE80-48CF-BA05-2805B40A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DATA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08CAA-4A3A-49BF-BD50-3A514C40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数据模型记录每一次变化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4E008-7126-412A-ABC6-0894E6E1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产品、批次、托盘、库位和任务构成可查询、可追溯的业务事实。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67483-6A81-45D0-AB15-434F6321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809750" y="2800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3352800" y="2800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4895850" y="2800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6438900" y="2800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981950" y="2800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9525000" y="2800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C034C-707E-4634-8B11-221908F1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200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B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2C3A8-B404-4853-8228-E9BADB8C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615F6-9CE1-446A-A102-E1D34F8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57450"/>
            <a:ext cx="1200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B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5CE4A-7156-4B91-91E4-7BB4C22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5745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批次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721CC-6179-4550-A16B-EA08D73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1200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B8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0DF3B-88BA-424B-A058-9B62EA34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托盘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1B5EE-3E32-4BAE-ACC2-BFC8AEC5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200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B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B190E-B9CC-43E1-BABA-5FA5F86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库位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BAD40-069A-4DB0-9539-1DCBD05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1200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0F9F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6437D-2888-4B23-BCB2-9A9DC9E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7AC6B-5D87-4025-AFDF-4FDBAEB9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1200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DA69F-2E44-44D7-A8D1-796CDA59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库存流水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97A18-2720-4EE9-A83B-5242AC56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1200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4092C-A4AC-4C68-B256-46B24FC8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96420-8AD2-4FB6-9624-5A4AF6DF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82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主数据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719D4-C8B2-43FD-AFCE-523CA03B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14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业务动作与历史事实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609600" y="36385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47912-2BC4-4D31-A60C-D88BCC04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8782A-BA44-4F12-9F5B-AD3EF15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个数据对象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04B47-03D8-49B9-95C3-D98B70A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57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54 张基础表 + 2 个视图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E25FBA-D4E5-44EA-A003-499692BA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8EF57-02CB-4E8A-B3E2-B04BC7CF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个迁移脚本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8DBB5-8551-42DB-849D-9CB875C5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按版本库口径统计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369927-66A4-431A-9E8B-BA25F89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每一次库存变化都能找到来源、操作人、时间和状态。</a:t>
            </a:r>
          </a:p>
        </p:txBody>
      </p:sp>
    </p:spTree>
    <p:extLst>
      <p:ext uri="{BB962C8B-B14F-4D97-AF65-F5344CB8AC3E}">
        <p14:creationId xmlns:p14="http://schemas.microsoft.com/office/powerpoint/2010/main" val="797654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D99A0A-458F-4F90-8840-8BF4C18B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B49A6-D28F-4117-8287-C07E863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标准架构支持持续交付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B6004-7E2B-4BA7-9F4A-6B174E54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容器化组件、环境配置和健康检查让系统可以部署、替换和排障。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9BF59-A0D3-477A-8679-D0FB51CF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096000" y="20764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096000" y="3028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2190750" y="34861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8CF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2190750" y="34861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8CF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6096000" y="34861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8CF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10001250" y="34861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8C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529FD-E269-446D-B974-531F94F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6096000" y="48958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3143250" y="523875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C9CB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3143250" y="52387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C9CB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6096000" y="52387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C9CB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9048750" y="52387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C9CB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E9910-2E6A-4DE4-A326-E4617B98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76400"/>
            <a:ext cx="200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B6586-3F93-4926-B3A5-F5E15729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764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企业用户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3B7F8-92F1-40C8-8C41-4F78826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400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F7636-C308-4EB0-9AD9-8099C35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Nginx 1.27  /  TLS  /  路由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E34C6-BFF5-49AA-949B-E25F3AF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190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D93E4-FDD4-45B0-B87A-CCD924BE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99948-B72C-4F50-B67E-6BE7856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190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BFD29-59FF-4953-AAB6-3957C42F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Backend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Spring Boot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26FF7-8087-4F16-8305-5AAE12E6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190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F9FA8"/>
          </a:solidFill>
          <a:ln xmlns:a="http://schemas.openxmlformats.org/drawingml/2006/main" w="9525">
            <a:solidFill>
              <a:srgbClr val="0F9F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6D9F5-CC9D-4805-8DC5-FBE26D6E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Runtime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5B836-AE30-468D-A58F-40FFE3F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190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0F9F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91B5AD-C4D9-477A-9649-453C8520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MCP 受控工具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4037A-2F05-4DC7-9E89-6AE0C9DF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C9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BC4F0-9173-4D0C-9E8F-653338FA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E2D90B-F307-43CE-B62E-959550F2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578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C9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09509D-730C-4440-8632-A2704DD1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578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Redis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BDEC2-6862-439B-B767-EE7A4B8D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C9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C0997B-F291-479C-AF64-07C03C0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只读 RAG 制品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BD97F3-5933-4313-A62A-9DFC5235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912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Docker Compose  ·  环境变量注入  ·  健康检查  ·  独立日志  ·  只读挂载</a:t>
            </a:r>
          </a:p>
        </p:txBody>
      </p:sp>
    </p:spTree>
    <p:extLst>
      <p:ext uri="{BB962C8B-B14F-4D97-AF65-F5344CB8AC3E}">
        <p14:creationId xmlns:p14="http://schemas.microsoft.com/office/powerpoint/2010/main" val="2092732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9C024B-13F7-4685-9744-B4EF5AD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SECURITY &amp;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E39E-30FB-4BD5-ADC3-1F6416B0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每次请求都有安全链路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A1185-443D-449B-9934-1C2872F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身份、角色、业务规则和工具权限在后端逐层校验。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98FC2-3C86-4353-BF51-7BDFB279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80975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3C86E-7F14-4636-9A0F-22843F6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200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54668-F687-46B1-98B7-CCB2379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200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用户登录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35280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0A866-E285-4DEB-A8F1-83F6318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62200"/>
            <a:ext cx="1200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D2F8B-8860-4083-B2C7-84EA96D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62200"/>
            <a:ext cx="1200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JWT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89585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E4ABF-8263-4D41-80B9-2C42DFB9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62200"/>
            <a:ext cx="1200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AA3E8-D270-4104-8925-49F37A39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62200"/>
            <a:ext cx="1200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Spring</a:t>
            </a:r>
          </a:p>
          <a:p xmlns:a="http://schemas.openxmlformats.org/drawingml/2006/main">
            <a:pPr algn="ctr">
              <a:def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Security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43890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8F4BE-904F-4F71-B29C-7BC31E4D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1200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765D0-5E73-4538-A654-7F661B2A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1200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RBAC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798195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9B726-B7F7-43F9-A82A-A948AC60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1200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5A1E9-6B6E-42DD-9031-15C2B78D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1200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业务校验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952500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F4976-7C98-4AB0-A40D-883DAC7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1200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59D4B9-5B9E-4403-9AE7-35E53F0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1200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Agent / Tool</a:t>
            </a:r>
          </a:p>
          <a:p xmlns:a="http://schemas.openxmlformats.org/drawingml/2006/main">
            <a:pPr algn="ctr">
              <a:def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91554-BFFC-47E2-9B74-2F31C56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1200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F9FA8"/>
          </a:solidFill>
          <a:ln xmlns:a="http://schemas.openxmlformats.org/drawingml/2006/main" w="9525">
            <a:solidFill>
              <a:srgbClr val="0F9F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6C27C-E3EE-4925-980B-187DC95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1200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BD2EA-5D32-498C-92B9-233E21CE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权限由后端判断；Agent 调用与普通 API 走同一套规则。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B50FB-7D44-442A-B23E-82287A47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F8017-AD6B-41B7-B656-999DF4AE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后端最终授权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DDCFF-700C-4ABE-AA59-227D16D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登录身份不能替代业务权限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76700" y="480060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D7E0D3-08E5-4282-B4A8-238B6937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00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高风险操作确认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AE947E-1CE1-47FB-B608-54258A7C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62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预览、确认和幂等控制分开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7658100" y="480060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177B26-C583-4312-88F2-BA3DE03E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关键动作审计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314649-5819-45D4-AEF8-1FBC74D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操作日志与 Agent 调用可追溯</a:t>
            </a:r>
          </a:p>
        </p:txBody>
      </p:sp>
    </p:spTree>
    <p:extLst>
      <p:ext uri="{BB962C8B-B14F-4D97-AF65-F5344CB8AC3E}">
        <p14:creationId xmlns:p14="http://schemas.microsoft.com/office/powerpoint/2010/main" val="14256402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6D6AC-6C89-4F8F-B604-D57091C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6C8FF"/>
                </a:solidFill>
                <a:latin typeface="Microsoft YaHei"/>
                <a:ea typeface="Microsoft YaHei"/>
                <a:cs typeface="Microsoft YaHei"/>
              </a:rPr>
              <a:t>AGENT IN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0EF60-5BFF-4428-9EDF-269E83E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自然语言直接查询业务数据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DA8CE-7247-4907-9B2A-104394B6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5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5E3"/>
                </a:solidFill>
                <a:latin typeface="Microsoft YaHei"/>
                <a:ea typeface="Microsoft YaHei"/>
                <a:cs typeface="Microsoft YaHei"/>
              </a:rPr>
              <a:t>用户不必在多个页面之间查找和拼接信息。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3E691-79D9-4DE5-A9E1-0DEF026D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7A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7A0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2CDC6-F183-4696-81B3-C2D0F95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“今天哪个仓库库存最高？”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09600" y="24384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E26C6-ADA1-4A12-89A3-7701796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“最近 7 天库存变化怎么样？”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09600" y="32766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55B53-1974-4DE2-ABA9-6AB858EF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“哪些批次质量异常？”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832BF-CB9C-4A66-BA84-F551D45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436CF-2E96-4F68-B8D2-E00946F1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58D46-BAA9-48DE-9270-84E93229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受控工具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41230-54AD-46A2-BF82-8EE8F308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8207E-13BB-4FE0-9672-07B067A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62296-C50E-42B2-A533-F45EA256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386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6321A-1333-4E17-9354-04157C0C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577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A3DB6-8583-4A85-985D-73085123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D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5D8C7"/>
                </a:solidFill>
                <a:latin typeface="Microsoft YaHei"/>
                <a:ea typeface="Microsoft YaHei"/>
                <a:cs typeface="Microsoft YaHei"/>
              </a:rPr>
              <a:t>当前重点：只读查询、报表和业务预览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9CE73-651F-4E9B-96E8-07214A15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81150"/>
            <a:ext cx="5429250" cy="4610100"/>
          </a:xfrm>
          <a:prstGeom xmlns:a="http://schemas.openxmlformats.org/drawingml/2006/main" prst="roundRect">
            <a:avLst>
              <a:gd name="adj" fmla="val 2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0dfac48704343"/>
          <a:srcRect xmlns:a="http://schemas.openxmlformats.org/drawingml/2006/main" l="16836" t="0" r="16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00200"/>
            <a:ext cx="5391150" cy="45720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</p:spTree>
    <p:extLst>
      <p:ext uri="{BB962C8B-B14F-4D97-AF65-F5344CB8AC3E}">
        <p14:creationId xmlns:p14="http://schemas.microsoft.com/office/powerpoint/2010/main" val="229676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A7E07-A6A4-42A3-B4D5-5789751C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AGENT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FB33-7606-4F63-81D7-FA5DAEEA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模型理解，系统负责执行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70D88-4749-49C5-949C-C06C87E0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模型可以思考，但不能绕过系统规则。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AB4BB-D09F-4091-967E-2F3A28B7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038350" y="2800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BD253-1556-4D7E-95F5-CA9BE0CA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D57D6-AE3A-4ECA-A080-934AAF9C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3848100" y="2800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A00B6-BB81-4409-966B-122E4C6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5D073-BCB0-430D-8C82-74C361D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 Agent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5657850" y="2800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80466-ECCB-4379-95A3-A3C25C38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C2CBE-306E-4CA1-90EC-6AA40CA1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领域 Agent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7467600" y="2800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A9FCB-E6D6-4EAD-ABB8-1F36A3A3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0F9F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2A96F-4B8A-43E2-8C8E-FEB58B24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MCP Tool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277350" y="2800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D0055-CD85-470D-B12B-7FA1776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A9C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165C7-184E-4793-AF03-1DD2AD94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后端服务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F7350-B3C6-4FDA-96F5-1741E0F1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193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C05E1-086E-486E-95D3-90D4F6E7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193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0483D-6530-4216-B0C9-7D245966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25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D4853-92BB-4D19-8E71-961BEFDC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0CAFF"/>
                </a:solidFill>
                <a:latin typeface="Microsoft YaHei"/>
                <a:ea typeface="Microsoft YaHei"/>
                <a:cs typeface="Microsoft YaHei"/>
              </a:rPr>
              <a:t>模型负责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A8DD2-1C3B-452E-9E15-62D1543E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  ·  分析  ·  规划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81093-BB53-406A-81C4-E9EEC8B7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525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A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4BBF7-E69B-4AD3-9D7C-1318AE8D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系统负责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85A66D-565E-4D9C-92D7-2E53CADF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权限  ·  参数  ·  事务  ·  审计  ·  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58C190-3A03-413E-8009-69699F96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270E0-DD09-46B8-9F19-D4721E94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9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9A59"/>
                </a:solidFill>
                <a:latin typeface="Microsoft YaHei"/>
                <a:ea typeface="Microsoft YaHei"/>
                <a:cs typeface="Microsoft YaHei"/>
              </a:rPr>
              <a:t>当前重点：L0 / L1 与部分 L2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AE065-A76A-4A5C-B616-57EE330F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054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L3 / L4 写操作需完成权限、确认、幂等、事务和审计验收后再开放</a:t>
            </a:r>
          </a:p>
        </p:txBody>
      </p:sp>
    </p:spTree>
    <p:extLst>
      <p:ext uri="{BB962C8B-B14F-4D97-AF65-F5344CB8AC3E}">
        <p14:creationId xmlns:p14="http://schemas.microsoft.com/office/powerpoint/2010/main" val="2111295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9B64C3-CDE6-416F-8B57-65225764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DELIVERY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DA443-5002-41F3-9D3F-6E3C1B3E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长期维护依赖工程闭环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67982-10E0-4BC6-9F83-9B62853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开发完成只是起点；测试、部署、观察、升级和回滚要一起设计。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07BE3-F437-47DE-8498-D1201D27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485900" y="27241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3105150" y="27241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724400" y="27241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3E6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6343650" y="27241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7962900" y="27241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9582150" y="27241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A8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10810875" y="31623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B6D8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1095375" y="3829050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B6D8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1095375" y="31623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B6D8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ADE7E-F774-4037-80EB-56C9714F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3B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3B6D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24681-5292-45C6-9F16-28D1A814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C2D30-BF80-4CC6-95A2-43CE8F6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90A70-F619-4A56-B0B5-E79A645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9525">
            <a:solidFill>
              <a:srgbClr val="1473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FEEB7-B3DB-497E-9862-7A3BAB24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E41B9-67B7-41B8-8DD2-B59B2BE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33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CCB40-F047-44F8-8524-60F73922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33625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FE995-B3B6-4806-A8C0-B55F72F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33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A8"/>
          </a:solidFill>
          <a:ln xmlns:a="http://schemas.openxmlformats.org/drawingml/2006/main" w="9525">
            <a:solidFill>
              <a:srgbClr val="0F9F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4BA3E-D71F-496D-B6AE-93FD58AA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33625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CAD8C-58F9-4C4F-B69B-76789A3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715CE-48C1-4C1C-A715-DC99D202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3CF82E-B6C2-44EC-9893-D176808A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33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9E6FC-9603-4DB5-A47A-ED93F2E1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33625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8B07AC-A30B-48F2-8B62-A76D247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33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B1BF2-5DC0-4BA1-953E-83B94A45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33625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823C0-2299-4895-B928-6C763DFB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62400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问题与版本经验返回下一轮开发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609600" y="45148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4B6B2-0968-412E-BB7F-795135B3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145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245FF5-6A99-4D7A-8AFE-51C0494E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95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个版本库测试源文件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7722D8-0694-422F-80F9-7486B50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149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Java  ·  MCP  ·  Python  ·  Web  ·  E2E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B09F36-6723-48F1-B342-A9728BC7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95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同时保留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A4057-1EBF-46AE-BC83-C625258D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95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33"/>
                </a:solidFill>
                <a:latin typeface="Microsoft YaHei"/>
                <a:ea typeface="Microsoft YaHei"/>
                <a:cs typeface="Microsoft YaHei"/>
              </a:rPr>
              <a:t>数据库迁移  ·  操作日志  ·  Agent 审计  ·  发布与回滚资料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D625AC-AD71-4B83-8D4B-FD0D29F1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注：测试文件数量用于说明质量资产规模，不代表当前所有测试全部通过。</a:t>
            </a:r>
          </a:p>
        </p:txBody>
      </p:sp>
    </p:spTree>
    <p:extLst>
      <p:ext uri="{BB962C8B-B14F-4D97-AF65-F5344CB8AC3E}">
        <p14:creationId xmlns:p14="http://schemas.microsoft.com/office/powerpoint/2010/main" val="16373484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C9C45-84C6-4DB2-ACC5-283CC182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REPLICABILITY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47E2A-81CC-42CC-B308-89424EE4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方法可以复制到更多场景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9539-538D-4AB2-BF83-D807C9FD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以一个高价值流程为起点，验证业务方法和工程体系，再按优先级扩展。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09600" y="6515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D300C-4DBC-441D-A913-E52CA143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096000" y="20955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BED8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3257550" y="2971800"/>
            <a:ext cx="16764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BED8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258050" y="2971800"/>
            <a:ext cx="16764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BED8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3810000" y="4019550"/>
            <a:ext cx="13335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C7CA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048500" y="4019550"/>
            <a:ext cx="13335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C7C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803EF-9FCB-45A6-B697-76414A54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2667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6572B-2F96-486D-A9C4-E11AB990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266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企业软件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B440B-1ACA-4124-B9D6-9E845EF2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764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AE1D2-5EC6-4C8F-8947-AAEDA43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764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业务建模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D723C-32BB-4A32-BCBB-6710B12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289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7A300-EA73-4505-8563-B07E5BC5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289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软件研发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579CB-E939-4C2F-A41B-150C1DC2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289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C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F43AC-13FB-48CC-BB61-600C12C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289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1F648-BB7B-4D3F-A71F-4B93E997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148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8FC7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3524E-286E-4BBA-B949-B843D0B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14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部署运维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E24C2-5564-43ED-AE50-85F18F58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8FC7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09FFC-AC16-4748-B547-B7BF9D0D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43272-F3ED-426F-873A-C94DB31E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制造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4924F-8889-4923-8664-A76BB583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AFE19-AEC5-4387-B889-836D837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供应链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21B1A-9FDF-4924-9D77-D6A588B1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85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质量管理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A1288-C4C2-40C4-B607-474F90B7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设备管理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5BB8E4-C913-44BB-B134-0B293CD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14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运营分析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BC192D-3533-4C8A-B5B8-27D0501D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CAF3B-E546-4EFD-811E-B4545056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从一个高价值业务流程开始，先做试点，再逐步扩大。</a:t>
            </a:r>
          </a:p>
        </p:txBody>
      </p:sp>
    </p:spTree>
    <p:extLst>
      <p:ext uri="{BB962C8B-B14F-4D97-AF65-F5344CB8AC3E}">
        <p14:creationId xmlns:p14="http://schemas.microsoft.com/office/powerpoint/2010/main" val="2081895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2026-08-09T15:16:47.0430000Z</dcterms:created>
  <dcterms:modified xsi:type="dcterms:W3CDTF">2026-08-09T15:16:47.0430000Z</dcterms:modified>
</coreProperties>
</file>